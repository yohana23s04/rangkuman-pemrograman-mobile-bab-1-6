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64658A9D-6C18-FB93-4E91-3C5119A59189}">
          <p14:sldIdLst>
            <p14:sldId id="256"/>
            <p14:sldId id="257"/>
          </p14:sldIdLst>
        </p14:section>
        <p14:section name="Bab 1: Pengenalan" id="{ACB4E221-20C1-A513-4EA1-E1E1DB02BA7C}">
          <p14:sldIdLst>
            <p14:sldId id="258"/>
            <p14:sldId id="259"/>
          </p14:sldIdLst>
        </p14:section>
        <p14:section name="Bab 2: Komponen Dasar" id="{C5CEECCE-B4F5-A878-84F3-C0CBC5ED057D}">
          <p14:sldIdLst>
            <p14:sldId id="260"/>
            <p14:sldId id="261"/>
            <p14:sldId id="262"/>
          </p14:sldIdLst>
        </p14:section>
        <p14:section name="Bab 3: UI/UX" id="{619EAC58-326E-F804-C5DC-05A189272471}">
          <p14:sldIdLst>
            <p14:sldId id="263"/>
            <p14:sldId id="264"/>
            <p14:sldId id="265"/>
          </p14:sldIdLst>
        </p14:section>
        <p14:section name="Bab 4: Background Task" id="{D999B908-97B6-3070-E31E-1CDB0DDC6EEC}">
          <p14:sldIdLst>
            <p14:sldId id="266"/>
            <p14:sldId id="267"/>
          </p14:sldIdLst>
        </p14:section>
        <p14:section name="Bab 5: Penyimpanan Data" id="{0597EE5B-3FF9-7B96-60B4-ED47814038C5}">
          <p14:sldIdLst>
            <p14:sldId id="268"/>
            <p14:sldId id="269"/>
          </p14:sldIdLst>
        </p14:section>
        <p14:section name="Bab 6: Firebase" id="{19F1F6B4-C8FB-2D3D-F175-AB1605E9635C}">
          <p14:sldIdLst>
            <p14:sldId id="270"/>
          </p14:sldIdLst>
        </p14:section>
        <p14:section name="Penutup" id="{48E115CF-FE18-2496-EFAF-9C16729DCAFA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09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10896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Pemrograman Mobile Android dengan Java · Ringkasan Bab 1–6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4773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Pemrograman Mobile Android dengan Java · Ringkasan Bab 1–6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800" b="1" dirty="0">
                <a:solidFill>
                  <a:schemeClr val="bg1"/>
                </a:solidFill>
              </a:rPr>
              <a:t>Pemrograman Mobile Android </a:t>
            </a:r>
            <a:r>
              <a:rPr lang="en-US" sz="3800" b="1" dirty="0" err="1">
                <a:solidFill>
                  <a:schemeClr val="bg1"/>
                </a:solidFill>
              </a:rPr>
              <a:t>dengan</a:t>
            </a:r>
            <a:r>
              <a:rPr lang="en-US" sz="3800" b="1" dirty="0">
                <a:solidFill>
                  <a:schemeClr val="bg1"/>
                </a:solidFill>
              </a:rPr>
              <a:t> Java</a:t>
            </a:r>
            <a:br>
              <a:rPr lang="en-US" sz="3800" b="1" dirty="0">
                <a:solidFill>
                  <a:schemeClr val="bg1"/>
                </a:solidFill>
              </a:rPr>
            </a:br>
            <a:r>
              <a:rPr lang="en-US" sz="1600" dirty="0" err="1">
                <a:solidFill>
                  <a:schemeClr val="accent1"/>
                </a:solidFill>
              </a:rPr>
              <a:t>Ringkasan</a:t>
            </a:r>
            <a:r>
              <a:rPr lang="en-US" sz="1600" dirty="0">
                <a:solidFill>
                  <a:schemeClr val="accent1"/>
                </a:solidFill>
              </a:rPr>
              <a:t> Bab 1–6</a:t>
            </a:r>
            <a:br>
              <a:rPr lang="en-US" dirty="0"/>
            </a:br>
            <a:endParaRPr lang="en-US" sz="3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108960"/>
            <a:ext cx="512064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/>
                </a:solidFill>
              </a:rPr>
              <a:t>Nama : Yohana Siallagan</a:t>
            </a:r>
            <a:br>
              <a:rPr lang="en-US" sz="1600" dirty="0">
                <a:solidFill>
                  <a:schemeClr val="accent1"/>
                </a:solidFill>
              </a:rPr>
            </a:br>
            <a:r>
              <a:rPr lang="en-US" sz="1600" dirty="0">
                <a:solidFill>
                  <a:schemeClr val="accent1"/>
                </a:solidFill>
              </a:rPr>
              <a:t>NIM    : 2302165</a:t>
            </a:r>
          </a:p>
          <a:p>
            <a:pPr marL="0" indent="0" algn="l">
              <a:buNone/>
            </a:pPr>
            <a:r>
              <a:rPr lang="en-US" dirty="0" err="1"/>
              <a:t>Kelas</a:t>
            </a:r>
            <a:r>
              <a:rPr lang="en-US" dirty="0"/>
              <a:t>  : 23S04</a:t>
            </a:r>
            <a:br>
              <a:rPr lang="en-US" dirty="0"/>
            </a:br>
            <a:endParaRPr lang="en-US" dirty="0"/>
          </a:p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4" name="Motif besar"/>
          <p:cNvSpPr/>
          <p:nvPr/>
        </p:nvSpPr>
        <p:spPr>
          <a:xfrm>
            <a:off x="6309360" y="100584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ngka bab"/>
          <p:cNvSpPr txBox="1"/>
          <p:nvPr/>
        </p:nvSpPr>
        <p:spPr>
          <a:xfrm>
            <a:off x="6309360" y="100584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1"/>
                </a:solidFill>
              </a:rPr>
              <a:t>6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chemeClr val="tx1"/>
                </a:solidFill>
              </a:rPr>
              <a:t>BAB</a:t>
            </a:r>
            <a:endParaRPr lang="en-US" sz="4400" dirty="0"/>
          </a:p>
        </p:txBody>
      </p:sp>
      <p:sp>
        <p:nvSpPr>
          <p:cNvPr id="6" name="Motif kecil"/>
          <p:cNvSpPr/>
          <p:nvPr/>
        </p:nvSpPr>
        <p:spPr>
          <a:xfrm>
            <a:off x="7955280" y="35661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GAMBARAN UMUM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Peta Materi Bab 1–6</a:t>
            </a:r>
            <a:endParaRPr lang="en-US" sz="3400" dirty="0"/>
          </a:p>
        </p:txBody>
      </p:sp>
      <p:sp>
        <p:nvSpPr>
          <p:cNvPr id="4" name="Box_1"/>
          <p:cNvSpPr/>
          <p:nvPr/>
        </p:nvSpPr>
        <p:spPr>
          <a:xfrm>
            <a:off x="457200" y="137160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5" name="Num_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_3"/>
          <p:cNvSpPr txBox="1"/>
          <p:nvPr/>
        </p:nvSpPr>
        <p:spPr>
          <a:xfrm>
            <a:off x="123444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Pengenalan</a:t>
            </a:r>
            <a:endParaRPr lang="en-US" sz="1600" dirty="0"/>
          </a:p>
        </p:txBody>
      </p:sp>
      <p:sp>
        <p:nvSpPr>
          <p:cNvPr id="7" name="Text_4"/>
          <p:cNvSpPr txBox="1"/>
          <p:nvPr/>
        </p:nvSpPr>
        <p:spPr>
          <a:xfrm>
            <a:off x="64008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Android, arsitektur platform, Android Studio</a:t>
            </a:r>
            <a:endParaRPr lang="en-US" sz="1400" dirty="0"/>
          </a:p>
        </p:txBody>
      </p:sp>
      <p:sp>
        <p:nvSpPr>
          <p:cNvPr id="8" name="Box_5"/>
          <p:cNvSpPr/>
          <p:nvPr/>
        </p:nvSpPr>
        <p:spPr>
          <a:xfrm>
            <a:off x="3291840" y="137160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9" name="Num_6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_7"/>
          <p:cNvSpPr txBox="1"/>
          <p:nvPr/>
        </p:nvSpPr>
        <p:spPr>
          <a:xfrm>
            <a:off x="406908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Komponen Dasar</a:t>
            </a:r>
            <a:endParaRPr lang="en-US" sz="1600" dirty="0"/>
          </a:p>
        </p:txBody>
      </p:sp>
      <p:sp>
        <p:nvSpPr>
          <p:cNvPr id="11" name="Text_8"/>
          <p:cNvSpPr txBox="1"/>
          <p:nvPr/>
        </p:nvSpPr>
        <p:spPr>
          <a:xfrm>
            <a:off x="347472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Activity, Intent, dan Fragment</a:t>
            </a:r>
            <a:endParaRPr lang="en-US" sz="1400" dirty="0"/>
          </a:p>
        </p:txBody>
      </p:sp>
      <p:sp>
        <p:nvSpPr>
          <p:cNvPr id="12" name="Box_9"/>
          <p:cNvSpPr/>
          <p:nvPr/>
        </p:nvSpPr>
        <p:spPr>
          <a:xfrm>
            <a:off x="6126480" y="137160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3" name="Num_10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_11"/>
          <p:cNvSpPr txBox="1"/>
          <p:nvPr/>
        </p:nvSpPr>
        <p:spPr>
          <a:xfrm>
            <a:off x="690372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UI/UX</a:t>
            </a:r>
            <a:endParaRPr lang="en-US" sz="1600" dirty="0"/>
          </a:p>
        </p:txBody>
      </p:sp>
      <p:sp>
        <p:nvSpPr>
          <p:cNvPr id="15" name="Text_12"/>
          <p:cNvSpPr txBox="1"/>
          <p:nvPr/>
        </p:nvSpPr>
        <p:spPr>
          <a:xfrm>
            <a:off x="630936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Layout, interaksi pengguna, RecyclerView</a:t>
            </a:r>
            <a:endParaRPr lang="en-US" sz="1400" dirty="0"/>
          </a:p>
        </p:txBody>
      </p:sp>
      <p:sp>
        <p:nvSpPr>
          <p:cNvPr id="16" name="Box_13"/>
          <p:cNvSpPr/>
          <p:nvPr/>
        </p:nvSpPr>
        <p:spPr>
          <a:xfrm>
            <a:off x="457200" y="306324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7" name="Num_14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_15"/>
          <p:cNvSpPr txBox="1"/>
          <p:nvPr/>
        </p:nvSpPr>
        <p:spPr>
          <a:xfrm>
            <a:off x="123444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Background Task</a:t>
            </a:r>
            <a:endParaRPr lang="en-US" sz="1600" dirty="0"/>
          </a:p>
        </p:txBody>
      </p:sp>
      <p:sp>
        <p:nvSpPr>
          <p:cNvPr id="19" name="Text_16"/>
          <p:cNvSpPr txBox="1"/>
          <p:nvPr/>
        </p:nvSpPr>
        <p:spPr>
          <a:xfrm>
            <a:off x="640080" y="3840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AlarmManager, JobScheduler, Notification</a:t>
            </a:r>
            <a:endParaRPr lang="en-US" sz="1400" dirty="0"/>
          </a:p>
        </p:txBody>
      </p:sp>
      <p:sp>
        <p:nvSpPr>
          <p:cNvPr id="20" name="Box_17"/>
          <p:cNvSpPr/>
          <p:nvPr/>
        </p:nvSpPr>
        <p:spPr>
          <a:xfrm>
            <a:off x="3291840" y="306324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1" name="Num_18"/>
          <p:cNvSpPr/>
          <p:nvPr/>
        </p:nvSpPr>
        <p:spPr>
          <a:xfrm>
            <a:off x="347472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_19"/>
          <p:cNvSpPr txBox="1"/>
          <p:nvPr/>
        </p:nvSpPr>
        <p:spPr>
          <a:xfrm>
            <a:off x="406908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Penyimpanan Data</a:t>
            </a:r>
            <a:endParaRPr lang="en-US" sz="1600" dirty="0"/>
          </a:p>
        </p:txBody>
      </p:sp>
      <p:sp>
        <p:nvSpPr>
          <p:cNvPr id="23" name="Text_20"/>
          <p:cNvSpPr txBox="1"/>
          <p:nvPr/>
        </p:nvSpPr>
        <p:spPr>
          <a:xfrm>
            <a:off x="3474720" y="3840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SharedPreferences dan SQLite</a:t>
            </a:r>
            <a:endParaRPr lang="en-US" sz="1400" dirty="0"/>
          </a:p>
        </p:txBody>
      </p:sp>
      <p:sp>
        <p:nvSpPr>
          <p:cNvPr id="24" name="Box_21"/>
          <p:cNvSpPr/>
          <p:nvPr/>
        </p:nvSpPr>
        <p:spPr>
          <a:xfrm>
            <a:off x="6126480" y="306324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5" name="Num_22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_23"/>
          <p:cNvSpPr txBox="1"/>
          <p:nvPr/>
        </p:nvSpPr>
        <p:spPr>
          <a:xfrm>
            <a:off x="690372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Firebase</a:t>
            </a:r>
            <a:endParaRPr lang="en-US" sz="1600" dirty="0"/>
          </a:p>
        </p:txBody>
      </p:sp>
      <p:sp>
        <p:nvSpPr>
          <p:cNvPr id="27" name="Text_24"/>
          <p:cNvSpPr txBox="1"/>
          <p:nvPr/>
        </p:nvSpPr>
        <p:spPr>
          <a:xfrm>
            <a:off x="6309360" y="3840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Realtime Database dan operasi CRUD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25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1 · PENGENALAN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Android dan Arsitektur Platform</a:t>
            </a:r>
            <a:endParaRPr lang="en-US" sz="3400" dirty="0"/>
          </a:p>
        </p:txBody>
      </p:sp>
      <p:sp>
        <p:nvSpPr>
          <p:cNvPr id="4" name="Text_26"/>
          <p:cNvSpPr txBox="1"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Sistem operasi mobile open source berbasis kernel Linux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Dipakai 72,92% smartphone dunia (Okt 2020)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Versi terbaru saat itu: Android 11 (API level 30)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Dikembangkan Open Handset Alliance; perangkat pertama HTC G1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ART menggantikan Dalvik sejak Android 5.0 (API 21)</a:t>
            </a:r>
            <a:endParaRPr lang="en-US" sz="1400" dirty="0"/>
          </a:p>
        </p:txBody>
      </p:sp>
      <p:sp>
        <p:nvSpPr>
          <p:cNvPr id="5" name="Layer_27"/>
          <p:cNvSpPr/>
          <p:nvPr/>
        </p:nvSpPr>
        <p:spPr>
          <a:xfrm>
            <a:off x="4754880" y="137160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System Apps</a:t>
            </a:r>
            <a:endParaRPr lang="en-US" sz="1400" dirty="0"/>
          </a:p>
        </p:txBody>
      </p:sp>
      <p:sp>
        <p:nvSpPr>
          <p:cNvPr id="6" name="Layer_28"/>
          <p:cNvSpPr/>
          <p:nvPr/>
        </p:nvSpPr>
        <p:spPr>
          <a:xfrm>
            <a:off x="4754880" y="201168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Java API Framework</a:t>
            </a:r>
            <a:endParaRPr lang="en-US" sz="1400" dirty="0"/>
          </a:p>
        </p:txBody>
      </p:sp>
      <p:sp>
        <p:nvSpPr>
          <p:cNvPr id="7" name="Layer_29"/>
          <p:cNvSpPr/>
          <p:nvPr/>
        </p:nvSpPr>
        <p:spPr>
          <a:xfrm>
            <a:off x="4754880" y="265176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Pustaka C/C++</a:t>
            </a:r>
            <a:endParaRPr lang="en-US" sz="1400" dirty="0"/>
          </a:p>
        </p:txBody>
      </p:sp>
      <p:sp>
        <p:nvSpPr>
          <p:cNvPr id="8" name="Layer_30"/>
          <p:cNvSpPr/>
          <p:nvPr/>
        </p:nvSpPr>
        <p:spPr>
          <a:xfrm>
            <a:off x="6766560" y="265176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Android Runtime (ART)</a:t>
            </a:r>
            <a:endParaRPr lang="en-US" sz="1400" dirty="0"/>
          </a:p>
        </p:txBody>
      </p:sp>
      <p:sp>
        <p:nvSpPr>
          <p:cNvPr id="9" name="Layer_31"/>
          <p:cNvSpPr/>
          <p:nvPr/>
        </p:nvSpPr>
        <p:spPr>
          <a:xfrm>
            <a:off x="4754880" y="329184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Hardware Abstraction Layer (HAL)</a:t>
            </a:r>
            <a:endParaRPr lang="en-US" sz="1400" dirty="0"/>
          </a:p>
        </p:txBody>
      </p:sp>
      <p:sp>
        <p:nvSpPr>
          <p:cNvPr id="10" name="Layer_32"/>
          <p:cNvSpPr/>
          <p:nvPr/>
        </p:nvSpPr>
        <p:spPr>
          <a:xfrm>
            <a:off x="4754880" y="393192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Linux Kernel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33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1 · PENGENALAN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Lingkungan Pengembangan</a:t>
            </a:r>
            <a:endParaRPr lang="en-US" sz="3400" dirty="0"/>
          </a:p>
        </p:txBody>
      </p:sp>
      <p:sp>
        <p:nvSpPr>
          <p:cNvPr id="4" name="Box_34"/>
          <p:cNvSpPr/>
          <p:nvPr/>
        </p:nvSpPr>
        <p:spPr>
          <a:xfrm>
            <a:off x="457200" y="137160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Text_35"/>
          <p:cNvSpPr txBox="1"/>
          <p:nvPr/>
        </p:nvSpPr>
        <p:spPr>
          <a:xfrm>
            <a:off x="594360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JDK</a:t>
            </a:r>
            <a:endParaRPr lang="en-US" sz="1600" dirty="0"/>
          </a:p>
        </p:txBody>
      </p:sp>
      <p:sp>
        <p:nvSpPr>
          <p:cNvPr id="6" name="Text_36"/>
          <p:cNvSpPr txBox="1"/>
          <p:nvPr/>
        </p:nvSpPr>
        <p:spPr>
          <a:xfrm>
            <a:off x="594360" y="18745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Java SE Development Kit (mis. JDK 8)</a:t>
            </a:r>
            <a:endParaRPr lang="en-US" sz="1400" dirty="0"/>
          </a:p>
        </p:txBody>
      </p:sp>
      <p:sp>
        <p:nvSpPr>
          <p:cNvPr id="7" name="Box_37"/>
          <p:cNvSpPr/>
          <p:nvPr/>
        </p:nvSpPr>
        <p:spPr>
          <a:xfrm>
            <a:off x="2560320" y="137160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8" name="Text_38"/>
          <p:cNvSpPr txBox="1"/>
          <p:nvPr/>
        </p:nvSpPr>
        <p:spPr>
          <a:xfrm>
            <a:off x="2697480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Android Studio</a:t>
            </a:r>
            <a:endParaRPr lang="en-US" sz="1600" dirty="0"/>
          </a:p>
        </p:txBody>
      </p:sp>
      <p:sp>
        <p:nvSpPr>
          <p:cNvPr id="9" name="Text_39"/>
          <p:cNvSpPr txBox="1"/>
          <p:nvPr/>
        </p:nvSpPr>
        <p:spPr>
          <a:xfrm>
            <a:off x="2697480" y="18745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IDE resmi: editor, emulator, Gradle</a:t>
            </a:r>
            <a:endParaRPr lang="en-US" sz="1400" dirty="0"/>
          </a:p>
        </p:txBody>
      </p:sp>
      <p:sp>
        <p:nvSpPr>
          <p:cNvPr id="10" name="Box_40"/>
          <p:cNvSpPr/>
          <p:nvPr/>
        </p:nvSpPr>
        <p:spPr>
          <a:xfrm>
            <a:off x="4663440" y="137160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1" name="Text_41"/>
          <p:cNvSpPr txBox="1"/>
          <p:nvPr/>
        </p:nvSpPr>
        <p:spPr>
          <a:xfrm>
            <a:off x="4800600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Android SDK</a:t>
            </a:r>
            <a:endParaRPr lang="en-US" sz="1600" dirty="0"/>
          </a:p>
        </p:txBody>
      </p:sp>
      <p:sp>
        <p:nvSpPr>
          <p:cNvPr id="12" name="Text_42"/>
          <p:cNvSpPr txBox="1"/>
          <p:nvPr/>
        </p:nvSpPr>
        <p:spPr>
          <a:xfrm>
            <a:off x="4800600" y="18745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Tools, library, debugger, SDK Manager</a:t>
            </a:r>
            <a:endParaRPr lang="en-US" sz="1400" dirty="0"/>
          </a:p>
        </p:txBody>
      </p:sp>
      <p:sp>
        <p:nvSpPr>
          <p:cNvPr id="13" name="Box_43"/>
          <p:cNvSpPr/>
          <p:nvPr/>
        </p:nvSpPr>
        <p:spPr>
          <a:xfrm>
            <a:off x="6766560" y="137160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Text_44"/>
          <p:cNvSpPr txBox="1"/>
          <p:nvPr/>
        </p:nvSpPr>
        <p:spPr>
          <a:xfrm>
            <a:off x="6903720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AVD / Perangkat</a:t>
            </a:r>
            <a:endParaRPr lang="en-US" sz="1600" dirty="0"/>
          </a:p>
        </p:txBody>
      </p:sp>
      <p:sp>
        <p:nvSpPr>
          <p:cNvPr id="15" name="Text_45"/>
          <p:cNvSpPr txBox="1"/>
          <p:nvPr/>
        </p:nvSpPr>
        <p:spPr>
          <a:xfrm>
            <a:off x="6903720" y="18745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Emulator atau HP fisik (USB Debugging)</a:t>
            </a:r>
            <a:endParaRPr lang="en-US" sz="1400" dirty="0"/>
          </a:p>
        </p:txBody>
      </p:sp>
      <p:sp>
        <p:nvSpPr>
          <p:cNvPr id="16" name="Text_46"/>
          <p:cNvSpPr txBox="1"/>
          <p:nvPr/>
        </p:nvSpPr>
        <p:spPr>
          <a:xfrm>
            <a:off x="457200" y="3090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Siklus pembuatan aplikasi</a:t>
            </a:r>
            <a:endParaRPr lang="en-US" sz="1600" dirty="0"/>
          </a:p>
        </p:txBody>
      </p:sp>
      <p:sp>
        <p:nvSpPr>
          <p:cNvPr id="17" name="Langkah_47"/>
          <p:cNvSpPr/>
          <p:nvPr/>
        </p:nvSpPr>
        <p:spPr>
          <a:xfrm>
            <a:off x="457200" y="3456432"/>
            <a:ext cx="2194560" cy="73152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Setup</a:t>
            </a:r>
            <a:endParaRPr lang="en-US" sz="1400" dirty="0"/>
          </a:p>
        </p:txBody>
      </p:sp>
      <p:sp>
        <p:nvSpPr>
          <p:cNvPr id="18" name="Langkah_48"/>
          <p:cNvSpPr/>
          <p:nvPr/>
        </p:nvSpPr>
        <p:spPr>
          <a:xfrm>
            <a:off x="2514600" y="3456432"/>
            <a:ext cx="2194560" cy="73152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19" name="Langkah_49"/>
          <p:cNvSpPr/>
          <p:nvPr/>
        </p:nvSpPr>
        <p:spPr>
          <a:xfrm>
            <a:off x="4572000" y="3456432"/>
            <a:ext cx="2194560" cy="73152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Debugging &amp; Testing</a:t>
            </a:r>
            <a:endParaRPr lang="en-US" sz="1400" dirty="0"/>
          </a:p>
        </p:txBody>
      </p:sp>
      <p:sp>
        <p:nvSpPr>
          <p:cNvPr id="20" name="Langkah_50"/>
          <p:cNvSpPr/>
          <p:nvPr/>
        </p:nvSpPr>
        <p:spPr>
          <a:xfrm>
            <a:off x="6629400" y="3456432"/>
            <a:ext cx="2194560" cy="73152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Publishing</a:t>
            </a:r>
            <a:endParaRPr lang="en-US" sz="1400" dirty="0"/>
          </a:p>
        </p:txBody>
      </p:sp>
      <p:sp>
        <p:nvSpPr>
          <p:cNvPr id="21" name="Text_51"/>
          <p:cNvSpPr txBox="1"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Distribusi: Google Play Store (biaya akun $25), APK via email, atau diunggah ke website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52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2 · KOMPONEN DASAR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Activity dan Life Cycle</a:t>
            </a:r>
            <a:endParaRPr lang="en-US" sz="3400" dirty="0"/>
          </a:p>
        </p:txBody>
      </p:sp>
      <p:sp>
        <p:nvSpPr>
          <p:cNvPr id="4" name="Text_53"/>
          <p:cNvSpPr txBox="1"/>
          <p:nvPr/>
        </p:nvSpPr>
        <p:spPr>
          <a:xfrm>
            <a:off x="457200" y="137160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Satu Activity = satu window UI dan satu class Java (extends AppCompatActivity)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Punya satu layout XML, dihubungkan lewat setContentView()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Wajib didaftarkan di AndroidManifest.xml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Disusun dalam back stack (LIFO)</a:t>
            </a:r>
            <a:endParaRPr lang="en-US" sz="1400" dirty="0"/>
          </a:p>
        </p:txBody>
      </p:sp>
      <p:sp>
        <p:nvSpPr>
          <p:cNvPr id="5" name="Siklus_54"/>
          <p:cNvSpPr/>
          <p:nvPr/>
        </p:nvSpPr>
        <p:spPr>
          <a:xfrm>
            <a:off x="5120640" y="1371600"/>
            <a:ext cx="356616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onCreate()</a:t>
            </a:r>
            <a:r>
              <a:rPr lang="en-US" sz="1400" dirty="0">
                <a:solidFill>
                  <a:schemeClr val="tx1"/>
                </a:solidFill>
              </a:rPr>
              <a:t>  ·  dibuat</a:t>
            </a:r>
            <a:endParaRPr lang="en-US" sz="1400" dirty="0"/>
          </a:p>
        </p:txBody>
      </p:sp>
      <p:sp>
        <p:nvSpPr>
          <p:cNvPr id="6" name="Siklus_55"/>
          <p:cNvSpPr/>
          <p:nvPr/>
        </p:nvSpPr>
        <p:spPr>
          <a:xfrm>
            <a:off x="5120640" y="1874520"/>
            <a:ext cx="356616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onStart()</a:t>
            </a:r>
            <a:r>
              <a:rPr lang="en-US" sz="1400" dirty="0">
                <a:solidFill>
                  <a:schemeClr val="tx1"/>
                </a:solidFill>
              </a:rPr>
              <a:t>  ·  terlihat</a:t>
            </a:r>
            <a:endParaRPr lang="en-US" sz="1400" dirty="0"/>
          </a:p>
        </p:txBody>
      </p:sp>
      <p:sp>
        <p:nvSpPr>
          <p:cNvPr id="7" name="Siklus_56"/>
          <p:cNvSpPr/>
          <p:nvPr/>
        </p:nvSpPr>
        <p:spPr>
          <a:xfrm>
            <a:off x="5120640" y="2377440"/>
            <a:ext cx="356616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onResume()</a:t>
            </a:r>
            <a:r>
              <a:rPr lang="en-US" sz="1400" dirty="0">
                <a:solidFill>
                  <a:schemeClr val="tx1"/>
                </a:solidFill>
              </a:rPr>
              <a:t>  ·  berinteraksi</a:t>
            </a:r>
            <a:endParaRPr lang="en-US" sz="1400" dirty="0"/>
          </a:p>
        </p:txBody>
      </p:sp>
      <p:sp>
        <p:nvSpPr>
          <p:cNvPr id="8" name="Siklus_57"/>
          <p:cNvSpPr/>
          <p:nvPr/>
        </p:nvSpPr>
        <p:spPr>
          <a:xfrm>
            <a:off x="5120640" y="2880360"/>
            <a:ext cx="356616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onPause()</a:t>
            </a:r>
            <a:r>
              <a:rPr lang="en-US" sz="1400" dirty="0">
                <a:solidFill>
                  <a:schemeClr val="tx1"/>
                </a:solidFill>
              </a:rPr>
              <a:t>  ·  dijeda</a:t>
            </a:r>
            <a:endParaRPr lang="en-US" sz="1400" dirty="0"/>
          </a:p>
        </p:txBody>
      </p:sp>
      <p:sp>
        <p:nvSpPr>
          <p:cNvPr id="9" name="Siklus_58"/>
          <p:cNvSpPr/>
          <p:nvPr/>
        </p:nvSpPr>
        <p:spPr>
          <a:xfrm>
            <a:off x="5120640" y="3383280"/>
            <a:ext cx="356616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onStop()</a:t>
            </a:r>
            <a:r>
              <a:rPr lang="en-US" sz="1400" dirty="0">
                <a:solidFill>
                  <a:schemeClr val="tx1"/>
                </a:solidFill>
              </a:rPr>
              <a:t>  ·  tak terlihat</a:t>
            </a:r>
            <a:endParaRPr lang="en-US" sz="1400" dirty="0"/>
          </a:p>
        </p:txBody>
      </p:sp>
      <p:sp>
        <p:nvSpPr>
          <p:cNvPr id="10" name="Siklus_59"/>
          <p:cNvSpPr/>
          <p:nvPr/>
        </p:nvSpPr>
        <p:spPr>
          <a:xfrm>
            <a:off x="5120640" y="3886200"/>
            <a:ext cx="356616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onDestroy()</a:t>
            </a:r>
            <a:r>
              <a:rPr lang="en-US" sz="1400" dirty="0">
                <a:solidFill>
                  <a:schemeClr val="bg1"/>
                </a:solidFill>
              </a:rPr>
              <a:t>  ·  dihapus</a:t>
            </a:r>
            <a:endParaRPr lang="en-US" sz="1400" dirty="0"/>
          </a:p>
        </p:txBody>
      </p:sp>
      <p:sp>
        <p:nvSpPr>
          <p:cNvPr id="11" name="Text_60"/>
          <p:cNvSpPr txBox="1"/>
          <p:nvPr/>
        </p:nvSpPr>
        <p:spPr>
          <a:xfrm>
            <a:off x="5120640" y="4434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onRestart() dipanggil saat kembali dari onStop()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61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2 · KOMPONEN DASAR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Intent: Explicit vs Implicit</a:t>
            </a:r>
            <a:endParaRPr lang="en-US" sz="3400" dirty="0"/>
          </a:p>
        </p:txBody>
      </p:sp>
      <p:sp>
        <p:nvSpPr>
          <p:cNvPr id="4" name="Box_62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Header_63"/>
          <p:cNvSpPr/>
          <p:nvPr/>
        </p:nvSpPr>
        <p:spPr>
          <a:xfrm>
            <a:off x="457200" y="1371600"/>
            <a:ext cx="402336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Explicit Intent</a:t>
            </a:r>
            <a:endParaRPr lang="en-US" sz="1600" dirty="0"/>
          </a:p>
        </p:txBody>
      </p:sp>
      <p:sp>
        <p:nvSpPr>
          <p:cNvPr id="6" name="Text_64"/>
          <p:cNvSpPr txBox="1"/>
          <p:nvPr/>
        </p:nvSpPr>
        <p:spPr>
          <a:xfrm>
            <a:off x="640080" y="20116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Menyebut nama class tujuan secara langsung. Dipakai untuk berpindah antar komponen di dalam satu aplikasi.</a:t>
            </a:r>
            <a:endParaRPr lang="en-US" sz="1400" dirty="0"/>
          </a:p>
        </p:txBody>
      </p:sp>
      <p:sp>
        <p:nvSpPr>
          <p:cNvPr id="7" name="Kode_65"/>
          <p:cNvSpPr/>
          <p:nvPr/>
        </p:nvSpPr>
        <p:spPr>
          <a:xfrm>
            <a:off x="640080" y="3200400"/>
            <a:ext cx="3657600" cy="7315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i = new Intent(this,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Second.class);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startActivity(i);</a:t>
            </a:r>
            <a:endParaRPr lang="en-US" sz="1200" dirty="0"/>
          </a:p>
        </p:txBody>
      </p:sp>
      <p:sp>
        <p:nvSpPr>
          <p:cNvPr id="8" name="Box_66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9" name="Header_67"/>
          <p:cNvSpPr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Implicit Intent</a:t>
            </a:r>
            <a:endParaRPr lang="en-US" sz="1600" dirty="0"/>
          </a:p>
        </p:txBody>
      </p:sp>
      <p:sp>
        <p:nvSpPr>
          <p:cNvPr id="10" name="Text_68"/>
          <p:cNvSpPr txBox="1"/>
          <p:nvPr/>
        </p:nvSpPr>
        <p:spPr>
          <a:xfrm>
            <a:off x="4846320" y="20116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Hanya mendeskripsikan aksi (view map, share, dial). Sistem mencari handler lewat intent filter; jika lebih dari satu, tampil App Chooser.</a:t>
            </a:r>
            <a:endParaRPr lang="en-US" sz="1400" dirty="0"/>
          </a:p>
        </p:txBody>
      </p:sp>
      <p:sp>
        <p:nvSpPr>
          <p:cNvPr id="11" name="Kode_69"/>
          <p:cNvSpPr/>
          <p:nvPr/>
        </p:nvSpPr>
        <p:spPr>
          <a:xfrm>
            <a:off x="4846320" y="3200400"/>
            <a:ext cx="3657600" cy="7315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i = new Intent(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Intent.ACTION_VIEW, uri);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startActivity(i);</a:t>
            </a:r>
            <a:endParaRPr lang="en-US" sz="1200" dirty="0"/>
          </a:p>
        </p:txBody>
      </p:sp>
      <p:sp>
        <p:nvSpPr>
          <p:cNvPr id="12" name="Strip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Kegunaan intent: pindah activity · jalankan service · kirim broadcast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70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2 · KOMPONEN DASAR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Fragment dan Kirim Data</a:t>
            </a:r>
            <a:endParaRPr lang="en-US" sz="3400" dirty="0"/>
          </a:p>
        </p:txBody>
      </p:sp>
      <p:sp>
        <p:nvSpPr>
          <p:cNvPr id="4" name="Box_71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Text_72"/>
          <p:cNvSpPr txBox="1"/>
          <p:nvPr/>
        </p:nvSpPr>
        <p:spPr>
          <a:xfrm>
            <a:off x="64008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Fragment</a:t>
            </a:r>
            <a:endParaRPr lang="en-US" sz="1600" dirty="0"/>
          </a:p>
        </p:txBody>
      </p:sp>
      <p:sp>
        <p:nvSpPr>
          <p:cNvPr id="6" name="Text_73"/>
          <p:cNvSpPr txBox="1"/>
          <p:nvPr/>
        </p:nvSpPr>
        <p:spPr>
          <a:xfrm>
            <a:off x="64008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Potongan UI modular dan dapat dipakai ulang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Punya layout XML dan life cycle sendiri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Bergantung pada life cycle activity induk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Satu activity bisa memuat banyak fragment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Tidak perlu didaftarkan di Manifest</a:t>
            </a:r>
            <a:endParaRPr lang="en-US" sz="1400" dirty="0"/>
          </a:p>
        </p:txBody>
      </p:sp>
      <p:sp>
        <p:nvSpPr>
          <p:cNvPr id="7" name="Text_74"/>
          <p:cNvSpPr txBox="1"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Kirim data antar Activity</a:t>
            </a:r>
            <a:endParaRPr lang="en-US" sz="1600" dirty="0"/>
          </a:p>
        </p:txBody>
      </p:sp>
      <p:sp>
        <p:nvSpPr>
          <p:cNvPr id="8" name="Num_75"/>
          <p:cNvSpPr/>
          <p:nvPr/>
        </p:nvSpPr>
        <p:spPr>
          <a:xfrm>
            <a:off x="4754880" y="18745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_76"/>
          <p:cNvSpPr txBox="1"/>
          <p:nvPr/>
        </p:nvSpPr>
        <p:spPr>
          <a:xfrm>
            <a:off x="5394960" y="1828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Buat Intent, isi data dengan putExtra()</a:t>
            </a:r>
            <a:endParaRPr lang="en-US" sz="1400" dirty="0"/>
          </a:p>
        </p:txBody>
      </p:sp>
      <p:sp>
        <p:nvSpPr>
          <p:cNvPr id="10" name="Num_77"/>
          <p:cNvSpPr/>
          <p:nvPr/>
        </p:nvSpPr>
        <p:spPr>
          <a:xfrm>
            <a:off x="4754880" y="25328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_78"/>
          <p:cNvSpPr txBox="1"/>
          <p:nvPr/>
        </p:nvSpPr>
        <p:spPr>
          <a:xfrm>
            <a:off x="5394960" y="2487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startActivity() membuka activity tujuan</a:t>
            </a:r>
            <a:endParaRPr lang="en-US" sz="1400" dirty="0"/>
          </a:p>
        </p:txBody>
      </p:sp>
      <p:sp>
        <p:nvSpPr>
          <p:cNvPr id="12" name="Num_79"/>
          <p:cNvSpPr/>
          <p:nvPr/>
        </p:nvSpPr>
        <p:spPr>
          <a:xfrm>
            <a:off x="4754880" y="319125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_80"/>
          <p:cNvSpPr txBox="1"/>
          <p:nvPr/>
        </p:nvSpPr>
        <p:spPr>
          <a:xfrm>
            <a:off x="5394960" y="31455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Tujuan membaca dengan getIntent()</a:t>
            </a:r>
            <a:endParaRPr lang="en-US" sz="1400" dirty="0"/>
          </a:p>
        </p:txBody>
      </p:sp>
      <p:sp>
        <p:nvSpPr>
          <p:cNvPr id="14" name="Num_81"/>
          <p:cNvSpPr/>
          <p:nvPr/>
        </p:nvSpPr>
        <p:spPr>
          <a:xfrm>
            <a:off x="4754880" y="384962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_82"/>
          <p:cNvSpPr txBox="1"/>
          <p:nvPr/>
        </p:nvSpPr>
        <p:spPr>
          <a:xfrm>
            <a:off x="5394960" y="38039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Kembalikan hasil: setResult() + finish()</a:t>
            </a:r>
            <a:endParaRPr lang="en-US" sz="1400" dirty="0"/>
          </a:p>
        </p:txBody>
      </p:sp>
      <p:sp>
        <p:nvSpPr>
          <p:cNvPr id="16" name="Text_83"/>
          <p:cNvSpPr txBox="1"/>
          <p:nvPr/>
        </p:nvSpPr>
        <p:spPr>
          <a:xfrm>
            <a:off x="475488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Data banyak? Gunakan Bundle atau Parcelable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84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3 · UI/UX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Konsep Dasar UI/UX</a:t>
            </a:r>
            <a:endParaRPr lang="en-US" sz="3400" dirty="0"/>
          </a:p>
        </p:txBody>
      </p:sp>
      <p:sp>
        <p:nvSpPr>
          <p:cNvPr id="4" name="Istilah_85"/>
          <p:cNvSpPr/>
          <p:nvPr/>
        </p:nvSpPr>
        <p:spPr>
          <a:xfrm>
            <a:off x="457200" y="137160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View</a:t>
            </a:r>
            <a:endParaRPr lang="en-US" sz="1400" dirty="0"/>
          </a:p>
        </p:txBody>
      </p:sp>
      <p:sp>
        <p:nvSpPr>
          <p:cNvPr id="5" name="Box_86"/>
          <p:cNvSpPr/>
          <p:nvPr/>
        </p:nvSpPr>
        <p:spPr>
          <a:xfrm>
            <a:off x="2377440" y="1371600"/>
            <a:ext cx="6309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6" name="Text_87"/>
          <p:cNvSpPr txBox="1"/>
          <p:nvPr/>
        </p:nvSpPr>
        <p:spPr>
          <a:xfrm>
            <a:off x="2560320" y="1371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Elemen UI: TextView, Button, EditText, ImageView</a:t>
            </a:r>
            <a:endParaRPr lang="en-US" sz="1400" dirty="0"/>
          </a:p>
        </p:txBody>
      </p:sp>
      <p:sp>
        <p:nvSpPr>
          <p:cNvPr id="7" name="Istilah_88"/>
          <p:cNvSpPr/>
          <p:nvPr/>
        </p:nvSpPr>
        <p:spPr>
          <a:xfrm>
            <a:off x="457200" y="1901952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ViewGroup</a:t>
            </a:r>
            <a:endParaRPr lang="en-US" sz="1400" dirty="0"/>
          </a:p>
        </p:txBody>
      </p:sp>
      <p:sp>
        <p:nvSpPr>
          <p:cNvPr id="8" name="Box_89"/>
          <p:cNvSpPr/>
          <p:nvPr/>
        </p:nvSpPr>
        <p:spPr>
          <a:xfrm>
            <a:off x="2377440" y="1901952"/>
            <a:ext cx="6309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9" name="Text_90"/>
          <p:cNvSpPr txBox="1"/>
          <p:nvPr/>
        </p:nvSpPr>
        <p:spPr>
          <a:xfrm>
            <a:off x="2560320" y="19019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Wadah view: LinearLayout, ConstraintLayout, dll.</a:t>
            </a:r>
            <a:endParaRPr lang="en-US" sz="1400" dirty="0"/>
          </a:p>
        </p:txBody>
      </p:sp>
      <p:sp>
        <p:nvSpPr>
          <p:cNvPr id="10" name="Istilah_91"/>
          <p:cNvSpPr/>
          <p:nvPr/>
        </p:nvSpPr>
        <p:spPr>
          <a:xfrm>
            <a:off x="457200" y="2432304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Style</a:t>
            </a:r>
            <a:endParaRPr lang="en-US" sz="1400" dirty="0"/>
          </a:p>
        </p:txBody>
      </p:sp>
      <p:sp>
        <p:nvSpPr>
          <p:cNvPr id="11" name="Box_92"/>
          <p:cNvSpPr/>
          <p:nvPr/>
        </p:nvSpPr>
        <p:spPr>
          <a:xfrm>
            <a:off x="2377440" y="2432304"/>
            <a:ext cx="6309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2" name="Text_93"/>
          <p:cNvSpPr txBox="1"/>
          <p:nvPr/>
        </p:nvSpPr>
        <p:spPr>
          <a:xfrm>
            <a:off x="2560320" y="243230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Kumpulan atribut tampilan, mengurangi duplikasi</a:t>
            </a:r>
            <a:endParaRPr lang="en-US" sz="1400" dirty="0"/>
          </a:p>
        </p:txBody>
      </p:sp>
      <p:sp>
        <p:nvSpPr>
          <p:cNvPr id="13" name="Istilah_94"/>
          <p:cNvSpPr/>
          <p:nvPr/>
        </p:nvSpPr>
        <p:spPr>
          <a:xfrm>
            <a:off x="457200" y="2962656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Theme</a:t>
            </a:r>
            <a:endParaRPr lang="en-US" sz="1400" dirty="0"/>
          </a:p>
        </p:txBody>
      </p:sp>
      <p:sp>
        <p:nvSpPr>
          <p:cNvPr id="14" name="Box_95"/>
          <p:cNvSpPr/>
          <p:nvPr/>
        </p:nvSpPr>
        <p:spPr>
          <a:xfrm>
            <a:off x="2377440" y="2962656"/>
            <a:ext cx="6309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5" name="Text_96"/>
          <p:cNvSpPr txBox="1"/>
          <p:nvPr/>
        </p:nvSpPr>
        <p:spPr>
          <a:xfrm>
            <a:off x="2560320" y="296265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Style untuk activity atau aplikasi (Manifest)</a:t>
            </a:r>
            <a:endParaRPr lang="en-US" sz="1400" dirty="0"/>
          </a:p>
        </p:txBody>
      </p:sp>
      <p:sp>
        <p:nvSpPr>
          <p:cNvPr id="16" name="Istilah_97"/>
          <p:cNvSpPr/>
          <p:nvPr/>
        </p:nvSpPr>
        <p:spPr>
          <a:xfrm>
            <a:off x="457200" y="3493008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Localization</a:t>
            </a:r>
            <a:endParaRPr lang="en-US" sz="1400" dirty="0"/>
          </a:p>
        </p:txBody>
      </p:sp>
      <p:sp>
        <p:nvSpPr>
          <p:cNvPr id="17" name="Box_98"/>
          <p:cNvSpPr/>
          <p:nvPr/>
        </p:nvSpPr>
        <p:spPr>
          <a:xfrm>
            <a:off x="2377440" y="3493008"/>
            <a:ext cx="6309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8" name="Text_99"/>
          <p:cNvSpPr txBox="1"/>
          <p:nvPr/>
        </p:nvSpPr>
        <p:spPr>
          <a:xfrm>
            <a:off x="2560320" y="34930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Konten menyesuaikan bahasa perangkat</a:t>
            </a:r>
            <a:endParaRPr lang="en-US" sz="1400" dirty="0"/>
          </a:p>
        </p:txBody>
      </p:sp>
      <p:sp>
        <p:nvSpPr>
          <p:cNvPr id="19" name="Istilah_100"/>
          <p:cNvSpPr/>
          <p:nvPr/>
        </p:nvSpPr>
        <p:spPr>
          <a:xfrm>
            <a:off x="457200" y="402336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Toast</a:t>
            </a:r>
            <a:endParaRPr lang="en-US" sz="1400" dirty="0"/>
          </a:p>
        </p:txBody>
      </p:sp>
      <p:sp>
        <p:nvSpPr>
          <p:cNvPr id="20" name="Box_101"/>
          <p:cNvSpPr/>
          <p:nvPr/>
        </p:nvSpPr>
        <p:spPr>
          <a:xfrm>
            <a:off x="2377440" y="4023360"/>
            <a:ext cx="63093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1" name="Text_102"/>
          <p:cNvSpPr txBox="1"/>
          <p:nvPr/>
        </p:nvSpPr>
        <p:spPr>
          <a:xfrm>
            <a:off x="2560320" y="4023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Pesan singkat pop-up yang hilang otomatis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103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3 · UI/UX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Layout dan Interaksi Pengguna</a:t>
            </a:r>
            <a:endParaRPr lang="en-US" sz="3400" dirty="0"/>
          </a:p>
        </p:txBody>
      </p:sp>
      <p:sp>
        <p:nvSpPr>
          <p:cNvPr id="4" name="Text_104"/>
          <p:cNvSpPr txBox="1"/>
          <p:nvPr/>
        </p:nvSpPr>
        <p:spPr>
          <a:xfrm>
            <a:off x="457200" y="1371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Jenis layout</a:t>
            </a:r>
            <a:endParaRPr lang="en-US" sz="1600" dirty="0"/>
          </a:p>
        </p:txBody>
      </p:sp>
      <p:sp>
        <p:nvSpPr>
          <p:cNvPr id="5" name="Box_105"/>
          <p:cNvSpPr/>
          <p:nvPr/>
        </p:nvSpPr>
        <p:spPr>
          <a:xfrm>
            <a:off x="457200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6" name="Text_106"/>
          <p:cNvSpPr txBox="1"/>
          <p:nvPr/>
        </p:nvSpPr>
        <p:spPr>
          <a:xfrm>
            <a:off x="566928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LinearLayout</a:t>
            </a:r>
            <a:endParaRPr lang="en-US" sz="1400" dirty="0"/>
          </a:p>
        </p:txBody>
      </p:sp>
      <p:sp>
        <p:nvSpPr>
          <p:cNvPr id="7" name="Text_107"/>
          <p:cNvSpPr txBox="1"/>
          <p:nvPr/>
        </p:nvSpPr>
        <p:spPr>
          <a:xfrm>
            <a:off x="566928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satu arah, vertikal atau horizontal</a:t>
            </a:r>
            <a:endParaRPr lang="en-US" sz="1200" dirty="0"/>
          </a:p>
        </p:txBody>
      </p:sp>
      <p:sp>
        <p:nvSpPr>
          <p:cNvPr id="8" name="Box_108"/>
          <p:cNvSpPr/>
          <p:nvPr/>
        </p:nvSpPr>
        <p:spPr>
          <a:xfrm>
            <a:off x="2514600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9" name="Text_109"/>
          <p:cNvSpPr txBox="1"/>
          <p:nvPr/>
        </p:nvSpPr>
        <p:spPr>
          <a:xfrm>
            <a:off x="2624328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ConstraintLayout</a:t>
            </a:r>
            <a:endParaRPr lang="en-US" sz="1400" dirty="0"/>
          </a:p>
        </p:txBody>
      </p:sp>
      <p:sp>
        <p:nvSpPr>
          <p:cNvPr id="10" name="Text_110"/>
          <p:cNvSpPr txBox="1"/>
          <p:nvPr/>
        </p:nvSpPr>
        <p:spPr>
          <a:xfrm>
            <a:off x="2624328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posisi relatif lewat constraint</a:t>
            </a:r>
            <a:endParaRPr lang="en-US" sz="1200" dirty="0"/>
          </a:p>
        </p:txBody>
      </p:sp>
      <p:sp>
        <p:nvSpPr>
          <p:cNvPr id="11" name="Box_111"/>
          <p:cNvSpPr/>
          <p:nvPr/>
        </p:nvSpPr>
        <p:spPr>
          <a:xfrm>
            <a:off x="457200" y="3154680"/>
            <a:ext cx="18745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2" name="Text_112"/>
          <p:cNvSpPr txBox="1"/>
          <p:nvPr/>
        </p:nvSpPr>
        <p:spPr>
          <a:xfrm>
            <a:off x="566928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GridLayout</a:t>
            </a:r>
            <a:endParaRPr lang="en-US" sz="1400" dirty="0"/>
          </a:p>
        </p:txBody>
      </p:sp>
      <p:sp>
        <p:nvSpPr>
          <p:cNvPr id="13" name="Text_113"/>
          <p:cNvSpPr txBox="1"/>
          <p:nvPr/>
        </p:nvSpPr>
        <p:spPr>
          <a:xfrm>
            <a:off x="566928" y="3657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susunan baris dan kolom</a:t>
            </a:r>
            <a:endParaRPr lang="en-US" sz="1200" dirty="0"/>
          </a:p>
        </p:txBody>
      </p:sp>
      <p:sp>
        <p:nvSpPr>
          <p:cNvPr id="14" name="Box_114"/>
          <p:cNvSpPr/>
          <p:nvPr/>
        </p:nvSpPr>
        <p:spPr>
          <a:xfrm>
            <a:off x="2514600" y="3154680"/>
            <a:ext cx="18745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5" name="Text_115"/>
          <p:cNvSpPr txBox="1"/>
          <p:nvPr/>
        </p:nvSpPr>
        <p:spPr>
          <a:xfrm>
            <a:off x="2624328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TableLayout</a:t>
            </a:r>
            <a:endParaRPr lang="en-US" sz="1400" dirty="0"/>
          </a:p>
        </p:txBody>
      </p:sp>
      <p:sp>
        <p:nvSpPr>
          <p:cNvPr id="16" name="Text_116"/>
          <p:cNvSpPr txBox="1"/>
          <p:nvPr/>
        </p:nvSpPr>
        <p:spPr>
          <a:xfrm>
            <a:off x="2624328" y="3657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tabel baris dan sel</a:t>
            </a:r>
            <a:endParaRPr lang="en-US" sz="1200" dirty="0"/>
          </a:p>
        </p:txBody>
      </p:sp>
      <p:sp>
        <p:nvSpPr>
          <p:cNvPr id="17" name="Text_117"/>
          <p:cNvSpPr txBox="1"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Interaksi pengguna</a:t>
            </a:r>
            <a:endParaRPr lang="en-US" sz="1600" dirty="0"/>
          </a:p>
        </p:txBody>
      </p:sp>
      <p:sp>
        <p:nvSpPr>
          <p:cNvPr id="18" name="Text_118"/>
          <p:cNvSpPr txBox="1"/>
          <p:nvPr/>
        </p:nvSpPr>
        <p:spPr>
          <a:xfrm>
            <a:off x="4754880" y="17830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Button: </a:t>
            </a:r>
            <a:r>
              <a:rPr lang="en-US" sz="1400" dirty="0">
                <a:solidFill>
                  <a:schemeClr val="tx1"/>
                </a:solidFill>
              </a:rPr>
              <a:t>onClick di XML atau setOnClickListener()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Input: </a:t>
            </a:r>
            <a:r>
              <a:rPr lang="en-US" sz="1400" dirty="0">
                <a:solidFill>
                  <a:schemeClr val="tx1"/>
                </a:solidFill>
              </a:rPr>
              <a:t>EditText, CheckBox, RadioGroup, Switch, Spinner, SeekBar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Menu: </a:t>
            </a:r>
            <a:r>
              <a:rPr lang="en-US" sz="1400" dirty="0">
                <a:solidFill>
                  <a:schemeClr val="tx1"/>
                </a:solidFill>
              </a:rPr>
              <a:t>options, context, contextual action bar, popup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Dialog: </a:t>
            </a:r>
            <a:r>
              <a:rPr lang="en-US" sz="1400" dirty="0">
                <a:solidFill>
                  <a:schemeClr val="tx1"/>
                </a:solidFill>
              </a:rPr>
              <a:t>AlertDialog, DatePicker, TimePicker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Navigasi: </a:t>
            </a:r>
            <a:r>
              <a:rPr lang="en-US" sz="1400" dirty="0">
                <a:solidFill>
                  <a:schemeClr val="tx1"/>
                </a:solidFill>
              </a:rPr>
              <a:t>Back, hierarkis, Navigation Drawer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119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3 · UI/UX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RecyclerView</a:t>
            </a:r>
            <a:endParaRPr lang="en-US" sz="3400" dirty="0"/>
          </a:p>
        </p:txBody>
      </p:sp>
      <p:sp>
        <p:nvSpPr>
          <p:cNvPr id="4" name="Box_120"/>
          <p:cNvSpPr/>
          <p:nvPr/>
        </p:nvSpPr>
        <p:spPr>
          <a:xfrm>
            <a:off x="457200" y="1371600"/>
            <a:ext cx="1783080" cy="1188720"/>
          </a:xfrm>
          <a:prstGeom prst="roundRect">
            <a:avLst>
              <a:gd name="adj" fmla="val 6154"/>
            </a:avLst>
          </a:prstGeom>
          <a:solidFill>
            <a:schemeClr val="accent4"/>
          </a:solidFill>
          <a:ln/>
        </p:spPr>
      </p:sp>
      <p:sp>
        <p:nvSpPr>
          <p:cNvPr id="5" name="Text_121"/>
          <p:cNvSpPr txBox="1"/>
          <p:nvPr/>
        </p:nvSpPr>
        <p:spPr>
          <a:xfrm>
            <a:off x="566928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</a:t>
            </a:r>
            <a:endParaRPr lang="en-US" sz="1600" dirty="0"/>
          </a:p>
        </p:txBody>
      </p:sp>
      <p:sp>
        <p:nvSpPr>
          <p:cNvPr id="6" name="Text_122"/>
          <p:cNvSpPr txBox="1"/>
          <p:nvPr/>
        </p:nvSpPr>
        <p:spPr>
          <a:xfrm>
            <a:off x="566928" y="18288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ArrayList&lt;Book&gt; dari strings.xml</a:t>
            </a:r>
            <a:endParaRPr lang="en-US" sz="1400" dirty="0"/>
          </a:p>
        </p:txBody>
      </p:sp>
      <p:sp>
        <p:nvSpPr>
          <p:cNvPr id="7" name="Panah_123"/>
          <p:cNvSpPr/>
          <p:nvPr/>
        </p:nvSpPr>
        <p:spPr>
          <a:xfrm>
            <a:off x="2286000" y="182880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8" name="Box_124"/>
          <p:cNvSpPr/>
          <p:nvPr/>
        </p:nvSpPr>
        <p:spPr>
          <a:xfrm>
            <a:off x="2606040" y="1371600"/>
            <a:ext cx="178308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</p:sp>
      <p:sp>
        <p:nvSpPr>
          <p:cNvPr id="9" name="Text_125"/>
          <p:cNvSpPr txBox="1"/>
          <p:nvPr/>
        </p:nvSpPr>
        <p:spPr>
          <a:xfrm>
            <a:off x="2715768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Adapter</a:t>
            </a:r>
            <a:endParaRPr lang="en-US" sz="1600" dirty="0"/>
          </a:p>
        </p:txBody>
      </p:sp>
      <p:sp>
        <p:nvSpPr>
          <p:cNvPr id="10" name="Text_126"/>
          <p:cNvSpPr txBox="1"/>
          <p:nvPr/>
        </p:nvSpPr>
        <p:spPr>
          <a:xfrm>
            <a:off x="2715768" y="18288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ListBookAdapter</a:t>
            </a:r>
            <a:endParaRPr lang="en-US" sz="1400" dirty="0"/>
          </a:p>
        </p:txBody>
      </p:sp>
      <p:sp>
        <p:nvSpPr>
          <p:cNvPr id="11" name="Panah_127"/>
          <p:cNvSpPr/>
          <p:nvPr/>
        </p:nvSpPr>
        <p:spPr>
          <a:xfrm>
            <a:off x="4434840" y="182880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Box_128"/>
          <p:cNvSpPr/>
          <p:nvPr/>
        </p:nvSpPr>
        <p:spPr>
          <a:xfrm>
            <a:off x="4754880" y="1371600"/>
            <a:ext cx="178308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</p:sp>
      <p:sp>
        <p:nvSpPr>
          <p:cNvPr id="13" name="Text_129"/>
          <p:cNvSpPr txBox="1"/>
          <p:nvPr/>
        </p:nvSpPr>
        <p:spPr>
          <a:xfrm>
            <a:off x="4864608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ViewHolder</a:t>
            </a:r>
            <a:endParaRPr lang="en-US" sz="1600" dirty="0"/>
          </a:p>
        </p:txBody>
      </p:sp>
      <p:sp>
        <p:nvSpPr>
          <p:cNvPr id="14" name="Text_130"/>
          <p:cNvSpPr txBox="1"/>
          <p:nvPr/>
        </p:nvSpPr>
        <p:spPr>
          <a:xfrm>
            <a:off x="4864608" y="18288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Menyimpan referensi view item</a:t>
            </a:r>
            <a:endParaRPr lang="en-US" sz="1400" dirty="0"/>
          </a:p>
        </p:txBody>
      </p:sp>
      <p:sp>
        <p:nvSpPr>
          <p:cNvPr id="15" name="Panah_131"/>
          <p:cNvSpPr/>
          <p:nvPr/>
        </p:nvSpPr>
        <p:spPr>
          <a:xfrm>
            <a:off x="6583680" y="182880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6" name="Box_132"/>
          <p:cNvSpPr/>
          <p:nvPr/>
        </p:nvSpPr>
        <p:spPr>
          <a:xfrm>
            <a:off x="6903720" y="1371600"/>
            <a:ext cx="17830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17" name="Text_133"/>
          <p:cNvSpPr txBox="1"/>
          <p:nvPr/>
        </p:nvSpPr>
        <p:spPr>
          <a:xfrm>
            <a:off x="7013448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RecyclerView</a:t>
            </a:r>
            <a:endParaRPr lang="en-US" sz="1600" dirty="0"/>
          </a:p>
        </p:txBody>
      </p:sp>
      <p:sp>
        <p:nvSpPr>
          <p:cNvPr id="18" name="Text_134"/>
          <p:cNvSpPr txBox="1"/>
          <p:nvPr/>
        </p:nvSpPr>
        <p:spPr>
          <a:xfrm>
            <a:off x="7013448" y="18288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+ LinearLayoutManager</a:t>
            </a:r>
            <a:endParaRPr lang="en-US" sz="1400" dirty="0"/>
          </a:p>
        </p:txBody>
      </p:sp>
      <p:sp>
        <p:nvSpPr>
          <p:cNvPr id="19" name="Box_135"/>
          <p:cNvSpPr/>
          <p:nvPr/>
        </p:nvSpPr>
        <p:spPr>
          <a:xfrm>
            <a:off x="457200" y="283464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0" name="Text_136"/>
          <p:cNvSpPr txBox="1"/>
          <p:nvPr/>
        </p:nvSpPr>
        <p:spPr>
          <a:xfrm>
            <a:off x="594360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onCreateViewHolder()</a:t>
            </a:r>
            <a:endParaRPr lang="en-US" sz="1400" dirty="0"/>
          </a:p>
        </p:txBody>
      </p:sp>
      <p:sp>
        <p:nvSpPr>
          <p:cNvPr id="21" name="Text_137"/>
          <p:cNvSpPr txBox="1"/>
          <p:nvPr/>
        </p:nvSpPr>
        <p:spPr>
          <a:xfrm>
            <a:off x="594360" y="33375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inflate layout item_list_book.xml</a:t>
            </a:r>
            <a:endParaRPr lang="en-US" sz="1400" dirty="0"/>
          </a:p>
        </p:txBody>
      </p:sp>
      <p:sp>
        <p:nvSpPr>
          <p:cNvPr id="22" name="Box_138"/>
          <p:cNvSpPr/>
          <p:nvPr/>
        </p:nvSpPr>
        <p:spPr>
          <a:xfrm>
            <a:off x="3291840" y="283464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3" name="Text_139"/>
          <p:cNvSpPr txBox="1"/>
          <p:nvPr/>
        </p:nvSpPr>
        <p:spPr>
          <a:xfrm>
            <a:off x="3429000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onBindViewHolder()</a:t>
            </a:r>
            <a:endParaRPr lang="en-US" sz="1400" dirty="0"/>
          </a:p>
        </p:txBody>
      </p:sp>
      <p:sp>
        <p:nvSpPr>
          <p:cNvPr id="24" name="Text_140"/>
          <p:cNvSpPr txBox="1"/>
          <p:nvPr/>
        </p:nvSpPr>
        <p:spPr>
          <a:xfrm>
            <a:off x="3429000" y="33375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isi teks dan gambar (Glide), pasang klik item</a:t>
            </a:r>
            <a:endParaRPr lang="en-US" sz="1400" dirty="0"/>
          </a:p>
        </p:txBody>
      </p:sp>
      <p:sp>
        <p:nvSpPr>
          <p:cNvPr id="25" name="Box_141"/>
          <p:cNvSpPr/>
          <p:nvPr/>
        </p:nvSpPr>
        <p:spPr>
          <a:xfrm>
            <a:off x="6126480" y="283464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6" name="Text_142"/>
          <p:cNvSpPr txBox="1"/>
          <p:nvPr/>
        </p:nvSpPr>
        <p:spPr>
          <a:xfrm>
            <a:off x="6263640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getItemCount()</a:t>
            </a:r>
            <a:endParaRPr lang="en-US" sz="1400" dirty="0"/>
          </a:p>
        </p:txBody>
      </p:sp>
      <p:sp>
        <p:nvSpPr>
          <p:cNvPr id="27" name="Text_143"/>
          <p:cNvSpPr txBox="1"/>
          <p:nvPr/>
        </p:nvSpPr>
        <p:spPr>
          <a:xfrm>
            <a:off x="6263640" y="33375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jumlah data yang ditampilkan</a:t>
            </a:r>
            <a:endParaRPr lang="en-US" sz="1400" dirty="0"/>
          </a:p>
        </p:txBody>
      </p:sp>
      <p:sp>
        <p:nvSpPr>
          <p:cNvPr id="28" name="Text_144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Lebih fleksibel dan efisien daripada ListView; klik item lewat OnItemClickCallback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145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4 · BACKGROUND TASK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AlarmManager vs JobScheduler</a:t>
            </a:r>
            <a:endParaRPr lang="en-US" sz="3400" dirty="0"/>
          </a:p>
        </p:txBody>
      </p:sp>
      <p:sp>
        <p:nvSpPr>
          <p:cNvPr id="4" name="Kolom_146"/>
          <p:cNvSpPr/>
          <p:nvPr/>
        </p:nvSpPr>
        <p:spPr>
          <a:xfrm>
            <a:off x="457200" y="1371600"/>
            <a:ext cx="17373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Kolom_147"/>
          <p:cNvSpPr/>
          <p:nvPr/>
        </p:nvSpPr>
        <p:spPr>
          <a:xfrm>
            <a:off x="2240280" y="1371600"/>
            <a:ext cx="3200400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AlarmManager</a:t>
            </a:r>
            <a:endParaRPr lang="en-US" sz="1600" dirty="0"/>
          </a:p>
        </p:txBody>
      </p:sp>
      <p:sp>
        <p:nvSpPr>
          <p:cNvPr id="6" name="Kolom_148"/>
          <p:cNvSpPr/>
          <p:nvPr/>
        </p:nvSpPr>
        <p:spPr>
          <a:xfrm>
            <a:off x="5486400" y="1371600"/>
            <a:ext cx="320040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JobScheduler</a:t>
            </a:r>
            <a:endParaRPr lang="en-US" sz="1600" dirty="0"/>
          </a:p>
        </p:txBody>
      </p:sp>
      <p:sp>
        <p:nvSpPr>
          <p:cNvPr id="7" name="Sel_149"/>
          <p:cNvSpPr/>
          <p:nvPr/>
        </p:nvSpPr>
        <p:spPr>
          <a:xfrm>
            <a:off x="457200" y="1874520"/>
            <a:ext cx="1737360" cy="53035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101600" rIns="10160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Fungsi</a:t>
            </a:r>
            <a:endParaRPr lang="en-US" sz="1400" dirty="0"/>
          </a:p>
        </p:txBody>
      </p:sp>
      <p:sp>
        <p:nvSpPr>
          <p:cNvPr id="8" name="Sel_150"/>
          <p:cNvSpPr/>
          <p:nvPr/>
        </p:nvSpPr>
        <p:spPr>
          <a:xfrm>
            <a:off x="2240280" y="1874520"/>
            <a:ext cx="3200400" cy="53035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Jadwalkan tugas pada waktu tertentu di level sistem</a:t>
            </a:r>
            <a:endParaRPr lang="en-US" sz="1400" dirty="0"/>
          </a:p>
        </p:txBody>
      </p:sp>
      <p:sp>
        <p:nvSpPr>
          <p:cNvPr id="9" name="Sel_151"/>
          <p:cNvSpPr/>
          <p:nvPr/>
        </p:nvSpPr>
        <p:spPr>
          <a:xfrm>
            <a:off x="5486400" y="1874520"/>
            <a:ext cx="3200400" cy="53035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Jalankan tugas saat kriteria JobInfo terpenuhi</a:t>
            </a:r>
            <a:endParaRPr lang="en-US" sz="1400" dirty="0"/>
          </a:p>
        </p:txBody>
      </p:sp>
      <p:sp>
        <p:nvSpPr>
          <p:cNvPr id="10" name="Sel_152"/>
          <p:cNvSpPr/>
          <p:nvPr/>
        </p:nvSpPr>
        <p:spPr>
          <a:xfrm>
            <a:off x="457200" y="2441448"/>
            <a:ext cx="1737360" cy="53035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101600" rIns="10160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Setelah reboot</a:t>
            </a:r>
            <a:endParaRPr lang="en-US" sz="1400" dirty="0"/>
          </a:p>
        </p:txBody>
      </p:sp>
      <p:sp>
        <p:nvSpPr>
          <p:cNvPr id="11" name="Sel_153"/>
          <p:cNvSpPr/>
          <p:nvPr/>
        </p:nvSpPr>
        <p:spPr>
          <a:xfrm>
            <a:off x="2240280" y="2441448"/>
            <a:ext cx="3200400" cy="53035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Alarm hilang, harus diatur ulang</a:t>
            </a:r>
            <a:endParaRPr lang="en-US" sz="1400" dirty="0"/>
          </a:p>
        </p:txBody>
      </p:sp>
      <p:sp>
        <p:nvSpPr>
          <p:cNvPr id="12" name="Sel_154"/>
          <p:cNvSpPr/>
          <p:nvPr/>
        </p:nvSpPr>
        <p:spPr>
          <a:xfrm>
            <a:off x="5486400" y="2441448"/>
            <a:ext cx="3200400" cy="53035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Tugas terjadwal tetap berjalan</a:t>
            </a:r>
            <a:endParaRPr lang="en-US" sz="1400" dirty="0"/>
          </a:p>
        </p:txBody>
      </p:sp>
      <p:sp>
        <p:nvSpPr>
          <p:cNvPr id="13" name="Sel_155"/>
          <p:cNvSpPr/>
          <p:nvPr/>
        </p:nvSpPr>
        <p:spPr>
          <a:xfrm>
            <a:off x="457200" y="3008376"/>
            <a:ext cx="1737360" cy="53035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101600" rIns="10160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Cocok untuk</a:t>
            </a:r>
            <a:endParaRPr lang="en-US" sz="1400" dirty="0"/>
          </a:p>
        </p:txBody>
      </p:sp>
      <p:sp>
        <p:nvSpPr>
          <p:cNvPr id="14" name="Sel_156"/>
          <p:cNvSpPr/>
          <p:nvPr/>
        </p:nvSpPr>
        <p:spPr>
          <a:xfrm>
            <a:off x="2240280" y="3008376"/>
            <a:ext cx="3200400" cy="53035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Pengingat dan event lokal (mis. jam alarm)</a:t>
            </a:r>
            <a:endParaRPr lang="en-US" sz="1400" dirty="0"/>
          </a:p>
        </p:txBody>
      </p:sp>
      <p:sp>
        <p:nvSpPr>
          <p:cNvPr id="15" name="Sel_157"/>
          <p:cNvSpPr/>
          <p:nvPr/>
        </p:nvSpPr>
        <p:spPr>
          <a:xfrm>
            <a:off x="5486400" y="3008376"/>
            <a:ext cx="3200400" cy="53035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Tugas latar belakang yang hemat baterai</a:t>
            </a:r>
            <a:endParaRPr lang="en-US" sz="1400" dirty="0"/>
          </a:p>
        </p:txBody>
      </p:sp>
      <p:sp>
        <p:nvSpPr>
          <p:cNvPr id="16" name="Sel_158"/>
          <p:cNvSpPr/>
          <p:nvPr/>
        </p:nvSpPr>
        <p:spPr>
          <a:xfrm>
            <a:off x="457200" y="3575304"/>
            <a:ext cx="1737360" cy="53035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101600" rIns="10160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API minimum</a:t>
            </a:r>
            <a:endParaRPr lang="en-US" sz="1400" dirty="0"/>
          </a:p>
        </p:txBody>
      </p:sp>
      <p:sp>
        <p:nvSpPr>
          <p:cNvPr id="17" name="Sel_159"/>
          <p:cNvSpPr/>
          <p:nvPr/>
        </p:nvSpPr>
        <p:spPr>
          <a:xfrm>
            <a:off x="2240280" y="3575304"/>
            <a:ext cx="3200400" cy="53035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API 19 (KitKat)</a:t>
            </a:r>
            <a:endParaRPr lang="en-US" sz="1400" dirty="0"/>
          </a:p>
        </p:txBody>
      </p:sp>
      <p:sp>
        <p:nvSpPr>
          <p:cNvPr id="18" name="Sel_160"/>
          <p:cNvSpPr/>
          <p:nvPr/>
        </p:nvSpPr>
        <p:spPr>
          <a:xfrm>
            <a:off x="5486400" y="3575304"/>
            <a:ext cx="3200400" cy="53035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API 21 (Lollipop)</a:t>
            </a:r>
            <a:endParaRPr lang="en-US" sz="1400" dirty="0"/>
          </a:p>
        </p:txBody>
      </p:sp>
      <p:sp>
        <p:nvSpPr>
          <p:cNvPr id="19" name="Tips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Hemat baterai: hindari RTC_WAKEUP; untuk tugas jaringan pakai setInexactRepeating()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161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4 · BACKGROUND TASK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Membuat Notifikasi</a:t>
            </a:r>
            <a:endParaRPr lang="en-US" sz="3400" dirty="0"/>
          </a:p>
        </p:txBody>
      </p:sp>
      <p:sp>
        <p:nvSpPr>
          <p:cNvPr id="4" name="Box_162"/>
          <p:cNvSpPr/>
          <p:nvPr/>
        </p:nvSpPr>
        <p:spPr>
          <a:xfrm>
            <a:off x="45720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Num_163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_164"/>
          <p:cNvSpPr txBox="1"/>
          <p:nvPr/>
        </p:nvSpPr>
        <p:spPr>
          <a:xfrm>
            <a:off x="109728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Buat channel</a:t>
            </a:r>
            <a:endParaRPr lang="en-US" sz="1400" dirty="0"/>
          </a:p>
        </p:txBody>
      </p:sp>
      <p:sp>
        <p:nvSpPr>
          <p:cNvPr id="7" name="Text_165"/>
          <p:cNvSpPr txBox="1"/>
          <p:nvPr/>
        </p:nvSpPr>
        <p:spPr>
          <a:xfrm>
            <a:off x="594360" y="20299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API 26+, IMPORTANCE_HIGH</a:t>
            </a:r>
            <a:endParaRPr lang="en-US" sz="1400" dirty="0"/>
          </a:p>
        </p:txBody>
      </p:sp>
      <p:sp>
        <p:nvSpPr>
          <p:cNvPr id="8" name="Box_166"/>
          <p:cNvSpPr/>
          <p:nvPr/>
        </p:nvSpPr>
        <p:spPr>
          <a:xfrm>
            <a:off x="32918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9" name="Num_167"/>
          <p:cNvSpPr/>
          <p:nvPr/>
        </p:nvSpPr>
        <p:spPr>
          <a:xfrm>
            <a:off x="3429000" y="15087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_168"/>
          <p:cNvSpPr txBox="1"/>
          <p:nvPr/>
        </p:nvSpPr>
        <p:spPr>
          <a:xfrm>
            <a:off x="393192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NotificationManager</a:t>
            </a:r>
            <a:endParaRPr lang="en-US" sz="1400" dirty="0"/>
          </a:p>
        </p:txBody>
      </p:sp>
      <p:sp>
        <p:nvSpPr>
          <p:cNvPr id="11" name="Text_169"/>
          <p:cNvSpPr txBox="1"/>
          <p:nvPr/>
        </p:nvSpPr>
        <p:spPr>
          <a:xfrm>
            <a:off x="3429000" y="20299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getSystemService() untuk mengirim notifikasi</a:t>
            </a:r>
            <a:endParaRPr lang="en-US" sz="1400" dirty="0"/>
          </a:p>
        </p:txBody>
      </p:sp>
      <p:sp>
        <p:nvSpPr>
          <p:cNvPr id="12" name="Box_170"/>
          <p:cNvSpPr/>
          <p:nvPr/>
        </p:nvSpPr>
        <p:spPr>
          <a:xfrm>
            <a:off x="612648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Num_171"/>
          <p:cNvSpPr/>
          <p:nvPr/>
        </p:nvSpPr>
        <p:spPr>
          <a:xfrm>
            <a:off x="6263640" y="15087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_172"/>
          <p:cNvSpPr txBox="1"/>
          <p:nvPr/>
        </p:nvSpPr>
        <p:spPr>
          <a:xfrm>
            <a:off x="676656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Builder</a:t>
            </a:r>
            <a:endParaRPr lang="en-US" sz="1400" dirty="0"/>
          </a:p>
        </p:txBody>
      </p:sp>
      <p:sp>
        <p:nvSpPr>
          <p:cNvPr id="15" name="Text_173"/>
          <p:cNvSpPr txBox="1"/>
          <p:nvPr/>
        </p:nvSpPr>
        <p:spPr>
          <a:xfrm>
            <a:off x="6263640" y="20299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NotificationCompat.Builder: judul, teks, small icon</a:t>
            </a:r>
            <a:endParaRPr lang="en-US" sz="1400" dirty="0"/>
          </a:p>
        </p:txBody>
      </p:sp>
      <p:sp>
        <p:nvSpPr>
          <p:cNvPr id="16" name="Box_174"/>
          <p:cNvSpPr/>
          <p:nvPr/>
        </p:nvSpPr>
        <p:spPr>
          <a:xfrm>
            <a:off x="457200" y="292608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7" name="Num_175"/>
          <p:cNvSpPr/>
          <p:nvPr/>
        </p:nvSpPr>
        <p:spPr>
          <a:xfrm>
            <a:off x="594360" y="30632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_176"/>
          <p:cNvSpPr txBox="1"/>
          <p:nvPr/>
        </p:nvSpPr>
        <p:spPr>
          <a:xfrm>
            <a:off x="109728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PendingIntent</a:t>
            </a:r>
            <a:endParaRPr lang="en-US" sz="1400" dirty="0"/>
          </a:p>
        </p:txBody>
      </p:sp>
      <p:sp>
        <p:nvSpPr>
          <p:cNvPr id="19" name="Text_177"/>
          <p:cNvSpPr txBox="1"/>
          <p:nvPr/>
        </p:nvSpPr>
        <p:spPr>
          <a:xfrm>
            <a:off x="594360" y="35844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setContentIntent() agar klik membuka activity</a:t>
            </a:r>
            <a:endParaRPr lang="en-US" sz="1400" dirty="0"/>
          </a:p>
        </p:txBody>
      </p:sp>
      <p:sp>
        <p:nvSpPr>
          <p:cNvPr id="20" name="Box_178"/>
          <p:cNvSpPr/>
          <p:nvPr/>
        </p:nvSpPr>
        <p:spPr>
          <a:xfrm>
            <a:off x="3291840" y="292608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1" name="Num_179"/>
          <p:cNvSpPr/>
          <p:nvPr/>
        </p:nvSpPr>
        <p:spPr>
          <a:xfrm>
            <a:off x="3429000" y="30632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_180"/>
          <p:cNvSpPr txBox="1"/>
          <p:nvPr/>
        </p:nvSpPr>
        <p:spPr>
          <a:xfrm>
            <a:off x="393192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Prioritas</a:t>
            </a:r>
            <a:endParaRPr lang="en-US" sz="1400" dirty="0"/>
          </a:p>
        </p:txBody>
      </p:sp>
      <p:sp>
        <p:nvSpPr>
          <p:cNvPr id="23" name="Text_181"/>
          <p:cNvSpPr txBox="1"/>
          <p:nvPr/>
        </p:nvSpPr>
        <p:spPr>
          <a:xfrm>
            <a:off x="3429000" y="35844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setPriority(HIGH) dan setDefaults(DEFAULT_ALL)</a:t>
            </a:r>
            <a:endParaRPr lang="en-US" sz="1400" dirty="0"/>
          </a:p>
        </p:txBody>
      </p:sp>
      <p:sp>
        <p:nvSpPr>
          <p:cNvPr id="24" name="Box_182"/>
          <p:cNvSpPr/>
          <p:nvPr/>
        </p:nvSpPr>
        <p:spPr>
          <a:xfrm>
            <a:off x="6126480" y="292608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5" name="Num_183"/>
          <p:cNvSpPr/>
          <p:nvPr/>
        </p:nvSpPr>
        <p:spPr>
          <a:xfrm>
            <a:off x="6263640" y="30632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_184"/>
          <p:cNvSpPr txBox="1"/>
          <p:nvPr/>
        </p:nvSpPr>
        <p:spPr>
          <a:xfrm>
            <a:off x="676656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Kirim</a:t>
            </a:r>
            <a:endParaRPr lang="en-US" sz="1400" dirty="0"/>
          </a:p>
        </p:txBody>
      </p:sp>
      <p:sp>
        <p:nvSpPr>
          <p:cNvPr id="27" name="Text_185"/>
          <p:cNvSpPr txBox="1"/>
          <p:nvPr/>
        </p:nvSpPr>
        <p:spPr>
          <a:xfrm>
            <a:off x="6263640" y="35844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notify(NOTIFICATION_ID, builder.build())</a:t>
            </a:r>
            <a:endParaRPr lang="en-US" sz="1400" dirty="0"/>
          </a:p>
        </p:txBody>
      </p:sp>
      <p:sp>
        <p:nvSpPr>
          <p:cNvPr id="28" name="Text_186"/>
          <p:cNvSpPr txBox="1"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Android 8.0+: ikon aplikasi menampilkan notification dot saat ada notifikasi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187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5 · PENYIMPANAN DATA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Opsi Penyimpanan Data</a:t>
            </a:r>
            <a:endParaRPr lang="en-US" sz="3400" dirty="0"/>
          </a:p>
        </p:txBody>
      </p:sp>
      <p:sp>
        <p:nvSpPr>
          <p:cNvPr id="4" name="Text_188"/>
          <p:cNvSpPr txBox="1"/>
          <p:nvPr/>
        </p:nvSpPr>
        <p:spPr>
          <a:xfrm>
            <a:off x="457200" y="1325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 dalam perangkat</a:t>
            </a:r>
            <a:endParaRPr lang="en-US" sz="1600" dirty="0"/>
          </a:p>
        </p:txBody>
      </p:sp>
      <p:sp>
        <p:nvSpPr>
          <p:cNvPr id="5" name="Istilah_189"/>
          <p:cNvSpPr/>
          <p:nvPr/>
        </p:nvSpPr>
        <p:spPr>
          <a:xfrm>
            <a:off x="457200" y="1737360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Shared Preferences</a:t>
            </a:r>
            <a:endParaRPr lang="en-US" sz="1400" dirty="0"/>
          </a:p>
        </p:txBody>
      </p:sp>
      <p:sp>
        <p:nvSpPr>
          <p:cNvPr id="6" name="Box_190"/>
          <p:cNvSpPr/>
          <p:nvPr/>
        </p:nvSpPr>
        <p:spPr>
          <a:xfrm>
            <a:off x="2560320" y="1737360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7" name="Text_191"/>
          <p:cNvSpPr txBox="1"/>
          <p:nvPr/>
        </p:nvSpPr>
        <p:spPr>
          <a:xfrm>
            <a:off x="269748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 primitif key-value</a:t>
            </a:r>
            <a:endParaRPr lang="en-US" sz="1400" dirty="0"/>
          </a:p>
        </p:txBody>
      </p:sp>
      <p:sp>
        <p:nvSpPr>
          <p:cNvPr id="8" name="Istilah_192"/>
          <p:cNvSpPr/>
          <p:nvPr/>
        </p:nvSpPr>
        <p:spPr>
          <a:xfrm>
            <a:off x="457200" y="2267712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Internal Storage</a:t>
            </a:r>
            <a:endParaRPr lang="en-US" sz="1400" dirty="0"/>
          </a:p>
        </p:txBody>
      </p:sp>
      <p:sp>
        <p:nvSpPr>
          <p:cNvPr id="9" name="Box_193"/>
          <p:cNvSpPr/>
          <p:nvPr/>
        </p:nvSpPr>
        <p:spPr>
          <a:xfrm>
            <a:off x="2560320" y="2267712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0" name="Text_194"/>
          <p:cNvSpPr txBox="1"/>
          <p:nvPr/>
        </p:nvSpPr>
        <p:spPr>
          <a:xfrm>
            <a:off x="2697480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privat, dihapus saat uninstall</a:t>
            </a:r>
            <a:endParaRPr lang="en-US" sz="1400" dirty="0"/>
          </a:p>
        </p:txBody>
      </p:sp>
      <p:sp>
        <p:nvSpPr>
          <p:cNvPr id="11" name="Istilah_195"/>
          <p:cNvSpPr/>
          <p:nvPr/>
        </p:nvSpPr>
        <p:spPr>
          <a:xfrm>
            <a:off x="457200" y="2798064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External Storage</a:t>
            </a:r>
            <a:endParaRPr lang="en-US" sz="1400" dirty="0"/>
          </a:p>
        </p:txBody>
      </p:sp>
      <p:sp>
        <p:nvSpPr>
          <p:cNvPr id="12" name="Box_196"/>
          <p:cNvSpPr/>
          <p:nvPr/>
        </p:nvSpPr>
        <p:spPr>
          <a:xfrm>
            <a:off x="2560320" y="2798064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3" name="Text_197"/>
          <p:cNvSpPr txBox="1"/>
          <p:nvPr/>
        </p:nvSpPr>
        <p:spPr>
          <a:xfrm>
            <a:off x="2697480" y="27980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publik, perlu permission</a:t>
            </a:r>
            <a:endParaRPr lang="en-US" sz="1400" dirty="0"/>
          </a:p>
        </p:txBody>
      </p:sp>
      <p:sp>
        <p:nvSpPr>
          <p:cNvPr id="14" name="Istilah_198"/>
          <p:cNvSpPr/>
          <p:nvPr/>
        </p:nvSpPr>
        <p:spPr>
          <a:xfrm>
            <a:off x="457200" y="3328416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SQLite</a:t>
            </a:r>
            <a:endParaRPr lang="en-US" sz="1400" dirty="0"/>
          </a:p>
        </p:txBody>
      </p:sp>
      <p:sp>
        <p:nvSpPr>
          <p:cNvPr id="15" name="Box_199"/>
          <p:cNvSpPr/>
          <p:nvPr/>
        </p:nvSpPr>
        <p:spPr>
          <a:xfrm>
            <a:off x="2560320" y="3328416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6" name="Text_200"/>
          <p:cNvSpPr txBox="1"/>
          <p:nvPr/>
        </p:nvSpPr>
        <p:spPr>
          <a:xfrm>
            <a:off x="2697480" y="33284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 privat</a:t>
            </a:r>
            <a:endParaRPr lang="en-US" sz="1400" dirty="0"/>
          </a:p>
        </p:txBody>
      </p:sp>
      <p:sp>
        <p:nvSpPr>
          <p:cNvPr id="17" name="Istilah_201"/>
          <p:cNvSpPr/>
          <p:nvPr/>
        </p:nvSpPr>
        <p:spPr>
          <a:xfrm>
            <a:off x="457200" y="3858768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Content Provider</a:t>
            </a:r>
            <a:endParaRPr lang="en-US" sz="1400" dirty="0"/>
          </a:p>
        </p:txBody>
      </p:sp>
      <p:sp>
        <p:nvSpPr>
          <p:cNvPr id="18" name="Box_202"/>
          <p:cNvSpPr/>
          <p:nvPr/>
        </p:nvSpPr>
        <p:spPr>
          <a:xfrm>
            <a:off x="2560320" y="3858768"/>
            <a:ext cx="26517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9" name="Text_203"/>
          <p:cNvSpPr txBox="1"/>
          <p:nvPr/>
        </p:nvSpPr>
        <p:spPr>
          <a:xfrm>
            <a:off x="2697480" y="3858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privat dan bisa publik</a:t>
            </a:r>
            <a:endParaRPr lang="en-US" sz="1400" dirty="0"/>
          </a:p>
        </p:txBody>
      </p:sp>
      <p:sp>
        <p:nvSpPr>
          <p:cNvPr id="20" name="Text_204"/>
          <p:cNvSpPr txBox="1"/>
          <p:nvPr/>
        </p:nvSpPr>
        <p:spPr>
          <a:xfrm>
            <a:off x="557784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 luar perangkat</a:t>
            </a:r>
            <a:endParaRPr lang="en-US" sz="1600" dirty="0"/>
          </a:p>
        </p:txBody>
      </p:sp>
      <p:sp>
        <p:nvSpPr>
          <p:cNvPr id="21" name="Box_205"/>
          <p:cNvSpPr/>
          <p:nvPr/>
        </p:nvSpPr>
        <p:spPr>
          <a:xfrm>
            <a:off x="5577840" y="1737360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22" name="Text_206"/>
          <p:cNvSpPr txBox="1"/>
          <p:nvPr/>
        </p:nvSpPr>
        <p:spPr>
          <a:xfrm>
            <a:off x="571500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Koneksi jaringan (server sendiri)</a:t>
            </a:r>
            <a:endParaRPr lang="en-US" sz="1400" dirty="0"/>
          </a:p>
        </p:txBody>
      </p:sp>
      <p:sp>
        <p:nvSpPr>
          <p:cNvPr id="23" name="Box_207"/>
          <p:cNvSpPr/>
          <p:nvPr/>
        </p:nvSpPr>
        <p:spPr>
          <a:xfrm>
            <a:off x="5577840" y="2267712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24" name="Text_208"/>
          <p:cNvSpPr txBox="1"/>
          <p:nvPr/>
        </p:nvSpPr>
        <p:spPr>
          <a:xfrm>
            <a:off x="5715000" y="22677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Cloud backup</a:t>
            </a:r>
            <a:endParaRPr lang="en-US" sz="1400" dirty="0"/>
          </a:p>
        </p:txBody>
      </p:sp>
      <p:sp>
        <p:nvSpPr>
          <p:cNvPr id="25" name="Box_209"/>
          <p:cNvSpPr/>
          <p:nvPr/>
        </p:nvSpPr>
        <p:spPr>
          <a:xfrm>
            <a:off x="5577840" y="2798064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26" name="Text_210"/>
          <p:cNvSpPr txBox="1"/>
          <p:nvPr/>
        </p:nvSpPr>
        <p:spPr>
          <a:xfrm>
            <a:off x="5715000" y="27980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Firebase Realtime Database</a:t>
            </a:r>
            <a:endParaRPr lang="en-US" sz="1400" dirty="0"/>
          </a:p>
        </p:txBody>
      </p:sp>
      <p:sp>
        <p:nvSpPr>
          <p:cNvPr id="27" name="Box_211"/>
          <p:cNvSpPr/>
          <p:nvPr/>
        </p:nvSpPr>
        <p:spPr>
          <a:xfrm>
            <a:off x="5577840" y="3429000"/>
            <a:ext cx="3108960" cy="960120"/>
          </a:xfrm>
          <a:prstGeom prst="roundRect">
            <a:avLst>
              <a:gd name="adj" fmla="val 7619"/>
            </a:avLst>
          </a:prstGeom>
          <a:solidFill>
            <a:schemeClr val="accent4"/>
          </a:solidFill>
          <a:ln/>
        </p:spPr>
      </p:sp>
      <p:sp>
        <p:nvSpPr>
          <p:cNvPr id="28" name="Text_212"/>
          <p:cNvSpPr txBox="1"/>
          <p:nvPr/>
        </p:nvSpPr>
        <p:spPr>
          <a:xfrm>
            <a:off x="5715000" y="349300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Internal = hanya aplikasi sendiri. External = bisa dibaca semua aplikasi.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213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5 · PENYIMPANAN DATA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SharedPreferences dan SQLite</a:t>
            </a:r>
            <a:endParaRPr lang="en-US" sz="3400" dirty="0"/>
          </a:p>
        </p:txBody>
      </p:sp>
      <p:sp>
        <p:nvSpPr>
          <p:cNvPr id="4" name="Box_214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Header_215"/>
          <p:cNvSpPr/>
          <p:nvPr/>
        </p:nvSpPr>
        <p:spPr>
          <a:xfrm>
            <a:off x="457200" y="1371600"/>
            <a:ext cx="4023360" cy="50292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SharedPreferences</a:t>
            </a:r>
            <a:endParaRPr lang="en-US" sz="1600" dirty="0"/>
          </a:p>
        </p:txBody>
      </p:sp>
      <p:sp>
        <p:nvSpPr>
          <p:cNvPr id="6" name="Text_216"/>
          <p:cNvSpPr txBox="1"/>
          <p:nvPr/>
        </p:nvSpPr>
        <p:spPr>
          <a:xfrm>
            <a:off x="640080" y="20116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Pasangan key-value data primitif (int, String, boolean)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File XML privat; bertahan walau aplikasi dimatikan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Simpan di onPause(), restore di onCreate()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apply() asinkron, commit() sinkron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Beda dengan Saved Instance State (hanya sesi, mis. rotasi)</a:t>
            </a:r>
            <a:endParaRPr lang="en-US" sz="1400" dirty="0"/>
          </a:p>
        </p:txBody>
      </p:sp>
      <p:sp>
        <p:nvSpPr>
          <p:cNvPr id="7" name="Box_217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Header_218"/>
          <p:cNvSpPr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SQLite</a:t>
            </a:r>
            <a:endParaRPr lang="en-US" sz="1600" dirty="0"/>
          </a:p>
        </p:txBody>
      </p:sp>
      <p:sp>
        <p:nvSpPr>
          <p:cNvPr id="9" name="Text_219"/>
          <p:cNvSpPr txBox="1"/>
          <p:nvPr/>
        </p:nvSpPr>
        <p:spPr>
          <a:xfrm>
            <a:off x="4846320" y="20116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Database relasional internal milik aplikasi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SQLiteOpenHelper: onCreate() menjalankan CREATE TABLE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CRUD lewat SQLiteDatabase dan Cursor (rawQuery)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Hasil query ditampilkan di ListView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Contoh: aplikasi Biodata (CreateBio, SeeBio, UpdateBio)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_220"/>
          <p:cNvSpPr txBox="1"/>
          <p:nvPr/>
        </p:nvSpPr>
        <p:spPr>
          <a:xfrm>
            <a:off x="457200" y="228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BAB 6 · FIREBASE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Firebase Realtime Database</a:t>
            </a:r>
            <a:endParaRPr lang="en-US" sz="3400" dirty="0"/>
          </a:p>
        </p:txBody>
      </p:sp>
      <p:sp>
        <p:nvSpPr>
          <p:cNvPr id="4" name="Text_221"/>
          <p:cNvSpPr txBox="1"/>
          <p:nvPr/>
        </p:nvSpPr>
        <p:spPr>
          <a:xfrm>
            <a:off x="45720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Persiapan project</a:t>
            </a:r>
            <a:endParaRPr lang="en-US" sz="1600" dirty="0"/>
          </a:p>
        </p:txBody>
      </p:sp>
      <p:sp>
        <p:nvSpPr>
          <p:cNvPr id="5" name="Num_222"/>
          <p:cNvSpPr/>
          <p:nvPr/>
        </p:nvSpPr>
        <p:spPr>
          <a:xfrm>
            <a:off x="457200" y="1773936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_223"/>
          <p:cNvSpPr txBox="1"/>
          <p:nvPr/>
        </p:nvSpPr>
        <p:spPr>
          <a:xfrm>
            <a:off x="1051560" y="17373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Buat project di console.firebase.google.com</a:t>
            </a:r>
            <a:endParaRPr lang="en-US" sz="1400" dirty="0"/>
          </a:p>
        </p:txBody>
      </p:sp>
      <p:sp>
        <p:nvSpPr>
          <p:cNvPr id="7" name="Num_224"/>
          <p:cNvSpPr/>
          <p:nvPr/>
        </p:nvSpPr>
        <p:spPr>
          <a:xfrm>
            <a:off x="457200" y="235915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_225"/>
          <p:cNvSpPr txBox="1"/>
          <p:nvPr/>
        </p:nvSpPr>
        <p:spPr>
          <a:xfrm>
            <a:off x="1051560" y="232257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Register app: isi package name Android</a:t>
            </a:r>
            <a:endParaRPr lang="en-US" sz="1400" dirty="0"/>
          </a:p>
        </p:txBody>
      </p:sp>
      <p:sp>
        <p:nvSpPr>
          <p:cNvPr id="9" name="Num_226"/>
          <p:cNvSpPr/>
          <p:nvPr/>
        </p:nvSpPr>
        <p:spPr>
          <a:xfrm>
            <a:off x="457200" y="294436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Text_227"/>
          <p:cNvSpPr txBox="1"/>
          <p:nvPr/>
        </p:nvSpPr>
        <p:spPr>
          <a:xfrm>
            <a:off x="1051560" y="290779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Unduh google-services.json ke modul app</a:t>
            </a:r>
            <a:endParaRPr lang="en-US" sz="1400" dirty="0"/>
          </a:p>
        </p:txBody>
      </p:sp>
      <p:sp>
        <p:nvSpPr>
          <p:cNvPr id="11" name="Num_228"/>
          <p:cNvSpPr/>
          <p:nvPr/>
        </p:nvSpPr>
        <p:spPr>
          <a:xfrm>
            <a:off x="457200" y="3529584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Text_229"/>
          <p:cNvSpPr txBox="1"/>
          <p:nvPr/>
        </p:nvSpPr>
        <p:spPr>
          <a:xfrm>
            <a:off x="1051560" y="349300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Tambah SDK dan plugin google-services, lalu Sync</a:t>
            </a:r>
            <a:endParaRPr lang="en-US" sz="1400" dirty="0"/>
          </a:p>
        </p:txBody>
      </p:sp>
      <p:sp>
        <p:nvSpPr>
          <p:cNvPr id="13" name="Num_230"/>
          <p:cNvSpPr/>
          <p:nvPr/>
        </p:nvSpPr>
        <p:spPr>
          <a:xfrm>
            <a:off x="457200" y="4114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4" name="Text_231"/>
          <p:cNvSpPr txBox="1"/>
          <p:nvPr/>
        </p:nvSpPr>
        <p:spPr>
          <a:xfrm>
            <a:off x="1051560" y="407822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Atur Rules: uji coba read/write true; aman: auth != null</a:t>
            </a:r>
            <a:endParaRPr lang="en-US" sz="1400" dirty="0"/>
          </a:p>
        </p:txBody>
      </p:sp>
      <p:sp>
        <p:nvSpPr>
          <p:cNvPr id="15" name="Text_232"/>
          <p:cNvSpPr txBox="1"/>
          <p:nvPr/>
        </p:nvSpPr>
        <p:spPr>
          <a:xfrm>
            <a:off x="493776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Operasi CRUD</a:t>
            </a:r>
            <a:endParaRPr lang="en-US" sz="1600" dirty="0"/>
          </a:p>
        </p:txBody>
      </p:sp>
      <p:sp>
        <p:nvSpPr>
          <p:cNvPr id="16" name="Box_233"/>
          <p:cNvSpPr/>
          <p:nvPr/>
        </p:nvSpPr>
        <p:spPr>
          <a:xfrm>
            <a:off x="4937760" y="1737360"/>
            <a:ext cx="37490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7" name="Num_234"/>
          <p:cNvSpPr/>
          <p:nvPr/>
        </p:nvSpPr>
        <p:spPr>
          <a:xfrm>
            <a:off x="5074920" y="1828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8" name="Text_235"/>
          <p:cNvSpPr txBox="1"/>
          <p:nvPr/>
        </p:nvSpPr>
        <p:spPr>
          <a:xfrm>
            <a:off x="5715000" y="179222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Create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push() + child(id).setValue()</a:t>
            </a:r>
            <a:endParaRPr lang="en-US" sz="1400" dirty="0"/>
          </a:p>
        </p:txBody>
      </p:sp>
      <p:sp>
        <p:nvSpPr>
          <p:cNvPr id="19" name="Box_236"/>
          <p:cNvSpPr/>
          <p:nvPr/>
        </p:nvSpPr>
        <p:spPr>
          <a:xfrm>
            <a:off x="4937760" y="2468880"/>
            <a:ext cx="37490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0" name="Num_237"/>
          <p:cNvSpPr/>
          <p:nvPr/>
        </p:nvSpPr>
        <p:spPr>
          <a:xfrm>
            <a:off x="507492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</a:t>
            </a:r>
            <a:endParaRPr lang="en-US" sz="1400" dirty="0"/>
          </a:p>
        </p:txBody>
      </p:sp>
      <p:sp>
        <p:nvSpPr>
          <p:cNvPr id="21" name="Text_238"/>
          <p:cNvSpPr txBox="1"/>
          <p:nvPr/>
        </p:nvSpPr>
        <p:spPr>
          <a:xfrm>
            <a:off x="5715000" y="25237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addValueEventListener() → ListView</a:t>
            </a:r>
            <a:endParaRPr lang="en-US" sz="1400" dirty="0"/>
          </a:p>
        </p:txBody>
      </p:sp>
      <p:sp>
        <p:nvSpPr>
          <p:cNvPr id="22" name="Box_239"/>
          <p:cNvSpPr/>
          <p:nvPr/>
        </p:nvSpPr>
        <p:spPr>
          <a:xfrm>
            <a:off x="4937760" y="3200400"/>
            <a:ext cx="37490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3" name="Num_240"/>
          <p:cNvSpPr/>
          <p:nvPr/>
        </p:nvSpPr>
        <p:spPr>
          <a:xfrm>
            <a:off x="5074920" y="32918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U</a:t>
            </a:r>
            <a:endParaRPr lang="en-US" sz="1400" dirty="0"/>
          </a:p>
        </p:txBody>
      </p:sp>
      <p:sp>
        <p:nvSpPr>
          <p:cNvPr id="24" name="Text_241"/>
          <p:cNvSpPr txBox="1"/>
          <p:nvPr/>
        </p:nvSpPr>
        <p:spPr>
          <a:xfrm>
            <a:off x="5715000" y="325526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Update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child(id).setValue() menimpa data</a:t>
            </a:r>
            <a:endParaRPr lang="en-US" sz="1400" dirty="0"/>
          </a:p>
        </p:txBody>
      </p:sp>
      <p:sp>
        <p:nvSpPr>
          <p:cNvPr id="25" name="Box_242"/>
          <p:cNvSpPr/>
          <p:nvPr/>
        </p:nvSpPr>
        <p:spPr>
          <a:xfrm>
            <a:off x="4937760" y="3931920"/>
            <a:ext cx="37490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6" name="Num_243"/>
          <p:cNvSpPr/>
          <p:nvPr/>
        </p:nvSpPr>
        <p:spPr>
          <a:xfrm>
            <a:off x="5074920" y="40233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27" name="Text_244"/>
          <p:cNvSpPr txBox="1"/>
          <p:nvPr/>
        </p:nvSpPr>
        <p:spPr>
          <a:xfrm>
            <a:off x="5715000" y="39867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Delete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child(id).removeValue()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Ringkasan Akhir</a:t>
            </a:r>
            <a:endParaRPr lang="en-US" sz="3400" dirty="0"/>
          </a:p>
        </p:txBody>
      </p:sp>
      <p:sp>
        <p:nvSpPr>
          <p:cNvPr id="3" name="Kartu_245"/>
          <p:cNvSpPr/>
          <p:nvPr/>
        </p:nvSpPr>
        <p:spPr>
          <a:xfrm>
            <a:off x="45720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4" name="Num_246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_247"/>
          <p:cNvSpPr txBox="1"/>
          <p:nvPr/>
        </p:nvSpPr>
        <p:spPr>
          <a:xfrm>
            <a:off x="594360" y="2029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Android adalah stack berbasis Linux, dikembangkan di Android Studio</a:t>
            </a:r>
            <a:endParaRPr lang="en-US" sz="1400" dirty="0"/>
          </a:p>
        </p:txBody>
      </p:sp>
      <p:sp>
        <p:nvSpPr>
          <p:cNvPr id="6" name="Kartu_248"/>
          <p:cNvSpPr/>
          <p:nvPr/>
        </p:nvSpPr>
        <p:spPr>
          <a:xfrm>
            <a:off x="329184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7" name="Num_249"/>
          <p:cNvSpPr/>
          <p:nvPr/>
        </p:nvSpPr>
        <p:spPr>
          <a:xfrm>
            <a:off x="342900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_250"/>
          <p:cNvSpPr txBox="1"/>
          <p:nvPr/>
        </p:nvSpPr>
        <p:spPr>
          <a:xfrm>
            <a:off x="3429000" y="2029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Activity, Intent, dan Fragment adalah blok dasar aplikasi</a:t>
            </a:r>
            <a:endParaRPr lang="en-US" sz="1400" dirty="0"/>
          </a:p>
        </p:txBody>
      </p:sp>
      <p:sp>
        <p:nvSpPr>
          <p:cNvPr id="9" name="Kartu_251"/>
          <p:cNvSpPr/>
          <p:nvPr/>
        </p:nvSpPr>
        <p:spPr>
          <a:xfrm>
            <a:off x="6126480" y="137160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0" name="Num_252"/>
          <p:cNvSpPr/>
          <p:nvPr/>
        </p:nvSpPr>
        <p:spPr>
          <a:xfrm>
            <a:off x="626364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_253"/>
          <p:cNvSpPr txBox="1"/>
          <p:nvPr/>
        </p:nvSpPr>
        <p:spPr>
          <a:xfrm>
            <a:off x="6263640" y="2029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UI dari View dan Layout; RecyclerView untuk daftar data</a:t>
            </a:r>
            <a:endParaRPr lang="en-US" sz="1400" dirty="0"/>
          </a:p>
        </p:txBody>
      </p:sp>
      <p:sp>
        <p:nvSpPr>
          <p:cNvPr id="12" name="Kartu_254"/>
          <p:cNvSpPr/>
          <p:nvPr/>
        </p:nvSpPr>
        <p:spPr>
          <a:xfrm>
            <a:off x="457200" y="30175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3" name="Num_255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_256"/>
          <p:cNvSpPr txBox="1"/>
          <p:nvPr/>
        </p:nvSpPr>
        <p:spPr>
          <a:xfrm>
            <a:off x="594360" y="36758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AlarmManager, JobScheduler, dan Notification untuk tugas latar belakang</a:t>
            </a:r>
            <a:endParaRPr lang="en-US" sz="1400" dirty="0"/>
          </a:p>
        </p:txBody>
      </p:sp>
      <p:sp>
        <p:nvSpPr>
          <p:cNvPr id="15" name="Kartu_257"/>
          <p:cNvSpPr/>
          <p:nvPr/>
        </p:nvSpPr>
        <p:spPr>
          <a:xfrm>
            <a:off x="3291840" y="30175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6" name="Num_258"/>
          <p:cNvSpPr/>
          <p:nvPr/>
        </p:nvSpPr>
        <p:spPr>
          <a:xfrm>
            <a:off x="342900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_259"/>
          <p:cNvSpPr txBox="1"/>
          <p:nvPr/>
        </p:nvSpPr>
        <p:spPr>
          <a:xfrm>
            <a:off x="3429000" y="36758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Data lokal: SharedPreferences dan SQLite</a:t>
            </a:r>
            <a:endParaRPr lang="en-US" sz="1400" dirty="0"/>
          </a:p>
        </p:txBody>
      </p:sp>
      <p:sp>
        <p:nvSpPr>
          <p:cNvPr id="18" name="Kartu_260"/>
          <p:cNvSpPr/>
          <p:nvPr/>
        </p:nvSpPr>
        <p:spPr>
          <a:xfrm>
            <a:off x="6126480" y="30175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9" name="Num_261"/>
          <p:cNvSpPr/>
          <p:nvPr/>
        </p:nvSpPr>
        <p:spPr>
          <a:xfrm>
            <a:off x="626364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_262"/>
          <p:cNvSpPr txBox="1"/>
          <p:nvPr/>
        </p:nvSpPr>
        <p:spPr>
          <a:xfrm>
            <a:off x="6263640" y="36758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Firebase untuk data cloud realtime dengan CRUD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droid Hijau">
  <a:themeElements>
    <a:clrScheme name="Android Hijau">
      <a:dk1>
        <a:srgbClr val="1C2B16"/>
      </a:dk1>
      <a:lt1>
        <a:srgbClr val="FFFFFF"/>
      </a:lt1>
      <a:dk2>
        <a:srgbClr val="24491A"/>
      </a:dk2>
      <a:lt2>
        <a:srgbClr val="EEF5DC"/>
      </a:lt2>
      <a:accent1>
        <a:srgbClr val="A4C93A"/>
      </a:accent1>
      <a:accent2>
        <a:srgbClr val="3F7A24"/>
      </a:accent2>
      <a:accent3>
        <a:srgbClr val="3DDC84"/>
      </a:accent3>
      <a:accent4>
        <a:srgbClr val="073042"/>
      </a:accent4>
      <a:accent5>
        <a:srgbClr val="4285F4"/>
      </a:accent5>
      <a:accent6>
        <a:srgbClr val="F2A33A"/>
      </a:accent6>
      <a:hlink>
        <a:srgbClr val="3F7A24"/>
      </a:hlink>
      <a:folHlink>
        <a:srgbClr val="6B7F5A"/>
      </a:folHlink>
    </a:clrScheme>
    <a:fontScheme name="Android Hija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1216</Words>
  <Application>Microsoft Office PowerPoint</Application>
  <PresentationFormat>On-screen Show (16:9)</PresentationFormat>
  <Paragraphs>286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Android Hijau</vt:lpstr>
      <vt:lpstr>Pemrograman Mobile Android dengan Java Ringkasan Bab 1–6 </vt:lpstr>
      <vt:lpstr>Peta Materi Bab 1–6</vt:lpstr>
      <vt:lpstr>Android dan Arsitektur Platform</vt:lpstr>
      <vt:lpstr>Lingkungan Pengembangan</vt:lpstr>
      <vt:lpstr>Activity dan Life Cycle</vt:lpstr>
      <vt:lpstr>Intent: Explicit vs Implicit</vt:lpstr>
      <vt:lpstr>Fragment dan Kirim Data</vt:lpstr>
      <vt:lpstr>Konsep Dasar UI/UX</vt:lpstr>
      <vt:lpstr>Layout dan Interaksi Pengguna</vt:lpstr>
      <vt:lpstr>RecyclerView</vt:lpstr>
      <vt:lpstr>AlarmManager vs JobScheduler</vt:lpstr>
      <vt:lpstr>Membuat Notifikasi</vt:lpstr>
      <vt:lpstr>Opsi Penyimpanan Data</vt:lpstr>
      <vt:lpstr>SharedPreferences dan SQLite</vt:lpstr>
      <vt:lpstr>Firebase Realtime Database</vt:lpstr>
      <vt:lpstr>Ringkasan Akhir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Ringkasan Pemrograman Mobile Android dengan Java (Bab 1-6)</dc:title>
  <dc:subject>PptxGenJS Presentation</dc:subject>
  <dc:creator>Ringkasan e-book Erma Susanti</dc:creator>
  <cp:lastModifiedBy>Yohana Siallagan</cp:lastModifiedBy>
  <cp:revision>2</cp:revision>
  <dcterms:created xsi:type="dcterms:W3CDTF">2026-10-20T15:07:51Z</dcterms:created>
  <dcterms:modified xsi:type="dcterms:W3CDTF">2026-10-20T15:34:45Z</dcterms:modified>
</cp:coreProperties>
</file>